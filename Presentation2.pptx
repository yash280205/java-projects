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66" r:id="rId3"/>
    <p:sldId id="257" r:id="rId4"/>
    <p:sldId id="258" r:id="rId5"/>
    <p:sldId id="262" r:id="rId6"/>
    <p:sldId id="263" r:id="rId7"/>
    <p:sldId id="264" r:id="rId8"/>
    <p:sldId id="265" r:id="rId9"/>
    <p:sldId id="259" r:id="rId10"/>
    <p:sldId id="267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ED5002-00F6-4D70-B782-B84DE8B751A1}">
          <p14:sldIdLst>
            <p14:sldId id="256"/>
            <p14:sldId id="266"/>
            <p14:sldId id="257"/>
            <p14:sldId id="258"/>
            <p14:sldId id="262"/>
            <p14:sldId id="263"/>
            <p14:sldId id="264"/>
            <p14:sldId id="265"/>
            <p14:sldId id="259"/>
            <p14:sldId id="267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56969D-91DE-4ED2-8C52-B0087ED3B235}" type="doc">
      <dgm:prSet loTypeId="urn:microsoft.com/office/officeart/2016/7/layout/VerticalSolidAction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A2A8172-2690-470C-9D6C-A5386AE6FFA2}">
      <dgm:prSet/>
      <dgm:spPr/>
      <dgm:t>
        <a:bodyPr/>
        <a:lstStyle/>
        <a:p>
          <a:r>
            <a:rPr lang="en-US"/>
            <a:t>Develop</a:t>
          </a:r>
        </a:p>
      </dgm:t>
    </dgm:pt>
    <dgm:pt modelId="{EC2B0867-21D3-47CB-912F-1471293DE3A8}" type="parTrans" cxnId="{84DD7F54-F6E8-4889-B448-8782F49DB5A6}">
      <dgm:prSet/>
      <dgm:spPr/>
      <dgm:t>
        <a:bodyPr/>
        <a:lstStyle/>
        <a:p>
          <a:endParaRPr lang="en-US"/>
        </a:p>
      </dgm:t>
    </dgm:pt>
    <dgm:pt modelId="{5CD1122D-3753-49DF-90D0-F7F2631214C8}" type="sibTrans" cxnId="{84DD7F54-F6E8-4889-B448-8782F49DB5A6}">
      <dgm:prSet/>
      <dgm:spPr/>
      <dgm:t>
        <a:bodyPr/>
        <a:lstStyle/>
        <a:p>
          <a:endParaRPr lang="en-US"/>
        </a:p>
      </dgm:t>
    </dgm:pt>
    <dgm:pt modelId="{2118E9C1-3971-4D1D-9814-DD4076738A63}">
      <dgm:prSet/>
      <dgm:spPr/>
      <dgm:t>
        <a:bodyPr/>
        <a:lstStyle/>
        <a:p>
          <a:r>
            <a:rPr lang="en-US"/>
            <a:t>Develop a Java-based banking system to simulate real-world banking operations.</a:t>
          </a:r>
        </a:p>
      </dgm:t>
    </dgm:pt>
    <dgm:pt modelId="{9720F703-C6F1-4530-BD01-094C39B986D1}" type="parTrans" cxnId="{4E6B70CD-30B8-4765-9785-1B553FB5B65D}">
      <dgm:prSet/>
      <dgm:spPr/>
      <dgm:t>
        <a:bodyPr/>
        <a:lstStyle/>
        <a:p>
          <a:endParaRPr lang="en-US"/>
        </a:p>
      </dgm:t>
    </dgm:pt>
    <dgm:pt modelId="{EB775929-7F9B-4169-9CAC-A5B825339846}" type="sibTrans" cxnId="{4E6B70CD-30B8-4765-9785-1B553FB5B65D}">
      <dgm:prSet/>
      <dgm:spPr/>
      <dgm:t>
        <a:bodyPr/>
        <a:lstStyle/>
        <a:p>
          <a:endParaRPr lang="en-US"/>
        </a:p>
      </dgm:t>
    </dgm:pt>
    <dgm:pt modelId="{4D368648-C778-4BF2-9731-3F41068E3C2E}">
      <dgm:prSet/>
      <dgm:spPr/>
      <dgm:t>
        <a:bodyPr/>
        <a:lstStyle/>
        <a:p>
          <a:r>
            <a:rPr lang="en-US"/>
            <a:t>Enable</a:t>
          </a:r>
        </a:p>
      </dgm:t>
    </dgm:pt>
    <dgm:pt modelId="{A26179C7-72C7-4EAF-BA2B-6A7DFF551635}" type="parTrans" cxnId="{871072EE-A4F7-4B38-8390-5766EF7EF899}">
      <dgm:prSet/>
      <dgm:spPr/>
      <dgm:t>
        <a:bodyPr/>
        <a:lstStyle/>
        <a:p>
          <a:endParaRPr lang="en-US"/>
        </a:p>
      </dgm:t>
    </dgm:pt>
    <dgm:pt modelId="{E9F1ED3A-E9F2-4E85-B333-D8BE154E6E07}" type="sibTrans" cxnId="{871072EE-A4F7-4B38-8390-5766EF7EF899}">
      <dgm:prSet/>
      <dgm:spPr/>
      <dgm:t>
        <a:bodyPr/>
        <a:lstStyle/>
        <a:p>
          <a:endParaRPr lang="en-US"/>
        </a:p>
      </dgm:t>
    </dgm:pt>
    <dgm:pt modelId="{A20E5FCC-3364-460A-87F2-B7C43C7D7188}">
      <dgm:prSet/>
      <dgm:spPr/>
      <dgm:t>
        <a:bodyPr/>
        <a:lstStyle/>
        <a:p>
          <a:r>
            <a:rPr lang="en-US"/>
            <a:t>Enable users to create accounts, deposit/withdraw funds, and check balances.</a:t>
          </a:r>
        </a:p>
      </dgm:t>
    </dgm:pt>
    <dgm:pt modelId="{467EF19B-458C-4938-BF6B-16B9AFF38AF6}" type="parTrans" cxnId="{F390FFF6-7580-4229-93CE-74B134ADA62C}">
      <dgm:prSet/>
      <dgm:spPr/>
      <dgm:t>
        <a:bodyPr/>
        <a:lstStyle/>
        <a:p>
          <a:endParaRPr lang="en-US"/>
        </a:p>
      </dgm:t>
    </dgm:pt>
    <dgm:pt modelId="{FC25091E-BF8A-4EC1-8D32-6C53A51D5DB8}" type="sibTrans" cxnId="{F390FFF6-7580-4229-93CE-74B134ADA62C}">
      <dgm:prSet/>
      <dgm:spPr/>
      <dgm:t>
        <a:bodyPr/>
        <a:lstStyle/>
        <a:p>
          <a:endParaRPr lang="en-US"/>
        </a:p>
      </dgm:t>
    </dgm:pt>
    <dgm:pt modelId="{CE8FCF27-B0F3-48A9-8413-C75F8E43A595}">
      <dgm:prSet/>
      <dgm:spPr/>
      <dgm:t>
        <a:bodyPr/>
        <a:lstStyle/>
        <a:p>
          <a:r>
            <a:rPr lang="en-US"/>
            <a:t>Provide</a:t>
          </a:r>
        </a:p>
      </dgm:t>
    </dgm:pt>
    <dgm:pt modelId="{BE6B2F99-F440-46E2-B1FC-6AAFC6C6D5B5}" type="parTrans" cxnId="{868DBC8A-C675-431F-8F14-0EEFEC0A2E1A}">
      <dgm:prSet/>
      <dgm:spPr/>
      <dgm:t>
        <a:bodyPr/>
        <a:lstStyle/>
        <a:p>
          <a:endParaRPr lang="en-US"/>
        </a:p>
      </dgm:t>
    </dgm:pt>
    <dgm:pt modelId="{3D083786-0C94-4725-B8F6-7B3103B0F7C8}" type="sibTrans" cxnId="{868DBC8A-C675-431F-8F14-0EEFEC0A2E1A}">
      <dgm:prSet/>
      <dgm:spPr/>
      <dgm:t>
        <a:bodyPr/>
        <a:lstStyle/>
        <a:p>
          <a:endParaRPr lang="en-US"/>
        </a:p>
      </dgm:t>
    </dgm:pt>
    <dgm:pt modelId="{345F6A69-35F1-45EA-B45D-5A17589F412B}">
      <dgm:prSet/>
      <dgm:spPr/>
      <dgm:t>
        <a:bodyPr/>
        <a:lstStyle/>
        <a:p>
          <a:r>
            <a:rPr lang="en-US"/>
            <a:t>Provide loan application functionality (Personal and Home Loans) with eligibility checks.</a:t>
          </a:r>
        </a:p>
      </dgm:t>
    </dgm:pt>
    <dgm:pt modelId="{B87AA57A-D905-4377-9641-89646E85973C}" type="parTrans" cxnId="{8DD76B2C-01EF-4492-8CF7-5A3B04DFFC1E}">
      <dgm:prSet/>
      <dgm:spPr/>
      <dgm:t>
        <a:bodyPr/>
        <a:lstStyle/>
        <a:p>
          <a:endParaRPr lang="en-US"/>
        </a:p>
      </dgm:t>
    </dgm:pt>
    <dgm:pt modelId="{10BFB100-5225-4CC0-B8A7-43F80487CD66}" type="sibTrans" cxnId="{8DD76B2C-01EF-4492-8CF7-5A3B04DFFC1E}">
      <dgm:prSet/>
      <dgm:spPr/>
      <dgm:t>
        <a:bodyPr/>
        <a:lstStyle/>
        <a:p>
          <a:endParaRPr lang="en-US"/>
        </a:p>
      </dgm:t>
    </dgm:pt>
    <dgm:pt modelId="{C2D01A92-5F60-4B33-8D4D-BC26F2F3460C}">
      <dgm:prSet/>
      <dgm:spPr/>
      <dgm:t>
        <a:bodyPr/>
        <a:lstStyle/>
        <a:p>
          <a:r>
            <a:rPr lang="en-US"/>
            <a:t>Integrate</a:t>
          </a:r>
        </a:p>
      </dgm:t>
    </dgm:pt>
    <dgm:pt modelId="{2650893A-EB14-43AC-9516-705D135D6E2D}" type="parTrans" cxnId="{B4D2F971-800F-4A69-BFBE-F545DA8522F9}">
      <dgm:prSet/>
      <dgm:spPr/>
      <dgm:t>
        <a:bodyPr/>
        <a:lstStyle/>
        <a:p>
          <a:endParaRPr lang="en-US"/>
        </a:p>
      </dgm:t>
    </dgm:pt>
    <dgm:pt modelId="{B130625C-F569-43C4-84CF-D0BF1CA44AC1}" type="sibTrans" cxnId="{B4D2F971-800F-4A69-BFBE-F545DA8522F9}">
      <dgm:prSet/>
      <dgm:spPr/>
      <dgm:t>
        <a:bodyPr/>
        <a:lstStyle/>
        <a:p>
          <a:endParaRPr lang="en-US"/>
        </a:p>
      </dgm:t>
    </dgm:pt>
    <dgm:pt modelId="{5D4CC3BD-363E-44F6-9437-8BC0711D8D36}">
      <dgm:prSet/>
      <dgm:spPr/>
      <dgm:t>
        <a:bodyPr/>
        <a:lstStyle/>
        <a:p>
          <a:r>
            <a:rPr lang="en-US"/>
            <a:t>Integrate a MySQL database for persistent data storage.</a:t>
          </a:r>
        </a:p>
      </dgm:t>
    </dgm:pt>
    <dgm:pt modelId="{004B4FB2-71D0-4C28-B1B8-F0606AD025AE}" type="parTrans" cxnId="{AF834DE9-3360-4EAC-823D-B0B80E175F30}">
      <dgm:prSet/>
      <dgm:spPr/>
      <dgm:t>
        <a:bodyPr/>
        <a:lstStyle/>
        <a:p>
          <a:endParaRPr lang="en-US"/>
        </a:p>
      </dgm:t>
    </dgm:pt>
    <dgm:pt modelId="{2A553364-935B-4EC4-A868-7ADE1FDB0869}" type="sibTrans" cxnId="{AF834DE9-3360-4EAC-823D-B0B80E175F30}">
      <dgm:prSet/>
      <dgm:spPr/>
      <dgm:t>
        <a:bodyPr/>
        <a:lstStyle/>
        <a:p>
          <a:endParaRPr lang="en-US"/>
        </a:p>
      </dgm:t>
    </dgm:pt>
    <dgm:pt modelId="{9D7C04E1-00FE-4DC6-91DB-125F56D1D41C}">
      <dgm:prSet/>
      <dgm:spPr/>
      <dgm:t>
        <a:bodyPr/>
        <a:lstStyle/>
        <a:p>
          <a:r>
            <a:rPr lang="en-US"/>
            <a:t>Implement</a:t>
          </a:r>
        </a:p>
      </dgm:t>
    </dgm:pt>
    <dgm:pt modelId="{1455F334-8771-4708-A430-2355980BBB8E}" type="parTrans" cxnId="{ADE7F01F-25BF-40FE-B039-E63A89B4CC58}">
      <dgm:prSet/>
      <dgm:spPr/>
      <dgm:t>
        <a:bodyPr/>
        <a:lstStyle/>
        <a:p>
          <a:endParaRPr lang="en-US"/>
        </a:p>
      </dgm:t>
    </dgm:pt>
    <dgm:pt modelId="{0A9FA0C0-C667-42A7-81A9-B5FF35CC03B0}" type="sibTrans" cxnId="{ADE7F01F-25BF-40FE-B039-E63A89B4CC58}">
      <dgm:prSet/>
      <dgm:spPr/>
      <dgm:t>
        <a:bodyPr/>
        <a:lstStyle/>
        <a:p>
          <a:endParaRPr lang="en-US"/>
        </a:p>
      </dgm:t>
    </dgm:pt>
    <dgm:pt modelId="{8EF7BB07-EE4F-40B1-B025-F2BF06D61FD8}">
      <dgm:prSet/>
      <dgm:spPr/>
      <dgm:t>
        <a:bodyPr/>
        <a:lstStyle/>
        <a:p>
          <a:r>
            <a:rPr lang="en-US"/>
            <a:t>Implement file handling to store loan application records.</a:t>
          </a:r>
        </a:p>
      </dgm:t>
    </dgm:pt>
    <dgm:pt modelId="{1020BE8F-8147-4894-92F1-0ECF78CCD326}" type="parTrans" cxnId="{40CB96F4-A461-4016-80F9-C170715212A3}">
      <dgm:prSet/>
      <dgm:spPr/>
      <dgm:t>
        <a:bodyPr/>
        <a:lstStyle/>
        <a:p>
          <a:endParaRPr lang="en-US"/>
        </a:p>
      </dgm:t>
    </dgm:pt>
    <dgm:pt modelId="{506BC0E4-DB7F-4620-B154-1F0345962514}" type="sibTrans" cxnId="{40CB96F4-A461-4016-80F9-C170715212A3}">
      <dgm:prSet/>
      <dgm:spPr/>
      <dgm:t>
        <a:bodyPr/>
        <a:lstStyle/>
        <a:p>
          <a:endParaRPr lang="en-US"/>
        </a:p>
      </dgm:t>
    </dgm:pt>
    <dgm:pt modelId="{427AB76E-9B8C-49E5-8057-862F90636E3F}">
      <dgm:prSet/>
      <dgm:spPr/>
      <dgm:t>
        <a:bodyPr/>
        <a:lstStyle/>
        <a:p>
          <a:r>
            <a:rPr lang="en-US"/>
            <a:t>Ensure</a:t>
          </a:r>
        </a:p>
      </dgm:t>
    </dgm:pt>
    <dgm:pt modelId="{5BD68C47-DB5B-4387-B850-1F09DEF0E8F0}" type="parTrans" cxnId="{B43A4A55-6955-4D8F-A6D6-3490AA3A74D8}">
      <dgm:prSet/>
      <dgm:spPr/>
      <dgm:t>
        <a:bodyPr/>
        <a:lstStyle/>
        <a:p>
          <a:endParaRPr lang="en-US"/>
        </a:p>
      </dgm:t>
    </dgm:pt>
    <dgm:pt modelId="{0A33C6D8-A590-4097-B0F0-EB855F43C9E9}" type="sibTrans" cxnId="{B43A4A55-6955-4D8F-A6D6-3490AA3A74D8}">
      <dgm:prSet/>
      <dgm:spPr/>
      <dgm:t>
        <a:bodyPr/>
        <a:lstStyle/>
        <a:p>
          <a:endParaRPr lang="en-US"/>
        </a:p>
      </dgm:t>
    </dgm:pt>
    <dgm:pt modelId="{8C4BE4AF-E3A8-443B-A83D-EB7AAB738091}">
      <dgm:prSet/>
      <dgm:spPr/>
      <dgm:t>
        <a:bodyPr/>
        <a:lstStyle/>
        <a:p>
          <a:r>
            <a:rPr lang="en-US"/>
            <a:t>Ensure robust input validation and error handling for a user-friendly experience.</a:t>
          </a:r>
        </a:p>
      </dgm:t>
    </dgm:pt>
    <dgm:pt modelId="{78436C6E-77A0-4CE8-880F-13DCA4BCA9F9}" type="parTrans" cxnId="{A540451C-8D9C-4ADE-9463-17EE15B79456}">
      <dgm:prSet/>
      <dgm:spPr/>
      <dgm:t>
        <a:bodyPr/>
        <a:lstStyle/>
        <a:p>
          <a:endParaRPr lang="en-US"/>
        </a:p>
      </dgm:t>
    </dgm:pt>
    <dgm:pt modelId="{2CE6D580-8A9B-4E7F-B541-1BFEDAD58E66}" type="sibTrans" cxnId="{A540451C-8D9C-4ADE-9463-17EE15B79456}">
      <dgm:prSet/>
      <dgm:spPr/>
      <dgm:t>
        <a:bodyPr/>
        <a:lstStyle/>
        <a:p>
          <a:endParaRPr lang="en-US"/>
        </a:p>
      </dgm:t>
    </dgm:pt>
    <dgm:pt modelId="{01B751A0-17DD-468D-A94F-22E2996EDA1F}" type="pres">
      <dgm:prSet presAssocID="{1256969D-91DE-4ED2-8C52-B0087ED3B235}" presName="Name0" presStyleCnt="0">
        <dgm:presLayoutVars>
          <dgm:dir/>
          <dgm:animLvl val="lvl"/>
          <dgm:resizeHandles val="exact"/>
        </dgm:presLayoutVars>
      </dgm:prSet>
      <dgm:spPr/>
    </dgm:pt>
    <dgm:pt modelId="{9CA7FB52-D58C-4C4A-8200-B6A87C2800C4}" type="pres">
      <dgm:prSet presAssocID="{6A2A8172-2690-470C-9D6C-A5386AE6FFA2}" presName="linNode" presStyleCnt="0"/>
      <dgm:spPr/>
    </dgm:pt>
    <dgm:pt modelId="{2944C862-8AF2-47B1-92BE-C837831FD266}" type="pres">
      <dgm:prSet presAssocID="{6A2A8172-2690-470C-9D6C-A5386AE6FFA2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B8DF86D8-2A1C-4B75-BDE9-6C00C02FCFF9}" type="pres">
      <dgm:prSet presAssocID="{6A2A8172-2690-470C-9D6C-A5386AE6FFA2}" presName="descendantText" presStyleLbl="alignAccFollowNode1" presStyleIdx="0" presStyleCnt="6">
        <dgm:presLayoutVars>
          <dgm:bulletEnabled/>
        </dgm:presLayoutVars>
      </dgm:prSet>
      <dgm:spPr/>
    </dgm:pt>
    <dgm:pt modelId="{A489E5F0-4627-48DD-8F7F-9B98FD06044A}" type="pres">
      <dgm:prSet presAssocID="{5CD1122D-3753-49DF-90D0-F7F2631214C8}" presName="sp" presStyleCnt="0"/>
      <dgm:spPr/>
    </dgm:pt>
    <dgm:pt modelId="{5577A1A2-11EA-4454-B712-371CC641ABC3}" type="pres">
      <dgm:prSet presAssocID="{4D368648-C778-4BF2-9731-3F41068E3C2E}" presName="linNode" presStyleCnt="0"/>
      <dgm:spPr/>
    </dgm:pt>
    <dgm:pt modelId="{ED11D245-235A-47A1-84C4-B006A3592CBA}" type="pres">
      <dgm:prSet presAssocID="{4D368648-C778-4BF2-9731-3F41068E3C2E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801DD81C-AEFF-459B-B6D5-F6B0D995BE7F}" type="pres">
      <dgm:prSet presAssocID="{4D368648-C778-4BF2-9731-3F41068E3C2E}" presName="descendantText" presStyleLbl="alignAccFollowNode1" presStyleIdx="1" presStyleCnt="6">
        <dgm:presLayoutVars>
          <dgm:bulletEnabled/>
        </dgm:presLayoutVars>
      </dgm:prSet>
      <dgm:spPr/>
    </dgm:pt>
    <dgm:pt modelId="{F71333EB-53E5-4F22-8B78-1C7B59CFCA38}" type="pres">
      <dgm:prSet presAssocID="{E9F1ED3A-E9F2-4E85-B333-D8BE154E6E07}" presName="sp" presStyleCnt="0"/>
      <dgm:spPr/>
    </dgm:pt>
    <dgm:pt modelId="{1761E706-9BB2-4A39-BF35-0BECF2374C89}" type="pres">
      <dgm:prSet presAssocID="{CE8FCF27-B0F3-48A9-8413-C75F8E43A595}" presName="linNode" presStyleCnt="0"/>
      <dgm:spPr/>
    </dgm:pt>
    <dgm:pt modelId="{1F8D99E3-5B59-42C9-919D-68EC343CAAB6}" type="pres">
      <dgm:prSet presAssocID="{CE8FCF27-B0F3-48A9-8413-C75F8E43A595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D0391445-7404-4656-BDA2-3E3842197A4F}" type="pres">
      <dgm:prSet presAssocID="{CE8FCF27-B0F3-48A9-8413-C75F8E43A595}" presName="descendantText" presStyleLbl="alignAccFollowNode1" presStyleIdx="2" presStyleCnt="6">
        <dgm:presLayoutVars>
          <dgm:bulletEnabled/>
        </dgm:presLayoutVars>
      </dgm:prSet>
      <dgm:spPr/>
    </dgm:pt>
    <dgm:pt modelId="{9CA967EF-7007-48E1-B217-D8FCB533C656}" type="pres">
      <dgm:prSet presAssocID="{3D083786-0C94-4725-B8F6-7B3103B0F7C8}" presName="sp" presStyleCnt="0"/>
      <dgm:spPr/>
    </dgm:pt>
    <dgm:pt modelId="{3E7BD958-FA6D-4E49-BB00-A8C4FD1E4D31}" type="pres">
      <dgm:prSet presAssocID="{C2D01A92-5F60-4B33-8D4D-BC26F2F3460C}" presName="linNode" presStyleCnt="0"/>
      <dgm:spPr/>
    </dgm:pt>
    <dgm:pt modelId="{99007C9D-1AB5-42BF-B7FE-F07D9C43C80D}" type="pres">
      <dgm:prSet presAssocID="{C2D01A92-5F60-4B33-8D4D-BC26F2F3460C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1F0F33C4-72B9-4133-BA9F-7011C2F18DAF}" type="pres">
      <dgm:prSet presAssocID="{C2D01A92-5F60-4B33-8D4D-BC26F2F3460C}" presName="descendantText" presStyleLbl="alignAccFollowNode1" presStyleIdx="3" presStyleCnt="6">
        <dgm:presLayoutVars>
          <dgm:bulletEnabled/>
        </dgm:presLayoutVars>
      </dgm:prSet>
      <dgm:spPr/>
    </dgm:pt>
    <dgm:pt modelId="{E821481D-CAFA-4D91-AA51-1365F4201C47}" type="pres">
      <dgm:prSet presAssocID="{B130625C-F569-43C4-84CF-D0BF1CA44AC1}" presName="sp" presStyleCnt="0"/>
      <dgm:spPr/>
    </dgm:pt>
    <dgm:pt modelId="{94524DC1-0276-4AF5-937B-82A5CF7022FD}" type="pres">
      <dgm:prSet presAssocID="{9D7C04E1-00FE-4DC6-91DB-125F56D1D41C}" presName="linNode" presStyleCnt="0"/>
      <dgm:spPr/>
    </dgm:pt>
    <dgm:pt modelId="{8C7DBF6B-9E6B-4B33-8735-C11E5D8DE069}" type="pres">
      <dgm:prSet presAssocID="{9D7C04E1-00FE-4DC6-91DB-125F56D1D41C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8C8E19E6-A430-4477-BA64-4B78F2FB3A30}" type="pres">
      <dgm:prSet presAssocID="{9D7C04E1-00FE-4DC6-91DB-125F56D1D41C}" presName="descendantText" presStyleLbl="alignAccFollowNode1" presStyleIdx="4" presStyleCnt="6">
        <dgm:presLayoutVars>
          <dgm:bulletEnabled/>
        </dgm:presLayoutVars>
      </dgm:prSet>
      <dgm:spPr/>
    </dgm:pt>
    <dgm:pt modelId="{FB15AE34-1C93-4C9F-A0F3-3D51650BD8C8}" type="pres">
      <dgm:prSet presAssocID="{0A9FA0C0-C667-42A7-81A9-B5FF35CC03B0}" presName="sp" presStyleCnt="0"/>
      <dgm:spPr/>
    </dgm:pt>
    <dgm:pt modelId="{1689BC7F-A8C3-4823-9B2D-1101F99B5120}" type="pres">
      <dgm:prSet presAssocID="{427AB76E-9B8C-49E5-8057-862F90636E3F}" presName="linNode" presStyleCnt="0"/>
      <dgm:spPr/>
    </dgm:pt>
    <dgm:pt modelId="{D8E7EA98-2D11-4306-A3D9-C84CA67AB5A5}" type="pres">
      <dgm:prSet presAssocID="{427AB76E-9B8C-49E5-8057-862F90636E3F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3846652F-DCE5-49ED-A712-3F76749AD5F7}" type="pres">
      <dgm:prSet presAssocID="{427AB76E-9B8C-49E5-8057-862F90636E3F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37F7D405-8F0C-4568-AC0B-685E1DE434CD}" type="presOf" srcId="{2118E9C1-3971-4D1D-9814-DD4076738A63}" destId="{B8DF86D8-2A1C-4B75-BDE9-6C00C02FCFF9}" srcOrd="0" destOrd="0" presId="urn:microsoft.com/office/officeart/2016/7/layout/VerticalSolidActionList"/>
    <dgm:cxn modelId="{7300410C-292F-40A0-9252-CD8775BABBAF}" type="presOf" srcId="{9D7C04E1-00FE-4DC6-91DB-125F56D1D41C}" destId="{8C7DBF6B-9E6B-4B33-8735-C11E5D8DE069}" srcOrd="0" destOrd="0" presId="urn:microsoft.com/office/officeart/2016/7/layout/VerticalSolidActionList"/>
    <dgm:cxn modelId="{A540451C-8D9C-4ADE-9463-17EE15B79456}" srcId="{427AB76E-9B8C-49E5-8057-862F90636E3F}" destId="{8C4BE4AF-E3A8-443B-A83D-EB7AAB738091}" srcOrd="0" destOrd="0" parTransId="{78436C6E-77A0-4CE8-880F-13DCA4BCA9F9}" sibTransId="{2CE6D580-8A9B-4E7F-B541-1BFEDAD58E66}"/>
    <dgm:cxn modelId="{ADE7F01F-25BF-40FE-B039-E63A89B4CC58}" srcId="{1256969D-91DE-4ED2-8C52-B0087ED3B235}" destId="{9D7C04E1-00FE-4DC6-91DB-125F56D1D41C}" srcOrd="4" destOrd="0" parTransId="{1455F334-8771-4708-A430-2355980BBB8E}" sibTransId="{0A9FA0C0-C667-42A7-81A9-B5FF35CC03B0}"/>
    <dgm:cxn modelId="{8DD76B2C-01EF-4492-8CF7-5A3B04DFFC1E}" srcId="{CE8FCF27-B0F3-48A9-8413-C75F8E43A595}" destId="{345F6A69-35F1-45EA-B45D-5A17589F412B}" srcOrd="0" destOrd="0" parTransId="{B87AA57A-D905-4377-9641-89646E85973C}" sibTransId="{10BFB100-5225-4CC0-B8A7-43F80487CD66}"/>
    <dgm:cxn modelId="{96484F3B-7114-4690-AF0F-9FA0040BC21B}" type="presOf" srcId="{A20E5FCC-3364-460A-87F2-B7C43C7D7188}" destId="{801DD81C-AEFF-459B-B6D5-F6B0D995BE7F}" srcOrd="0" destOrd="0" presId="urn:microsoft.com/office/officeart/2016/7/layout/VerticalSolidActionList"/>
    <dgm:cxn modelId="{1208CB42-4660-4DBD-95E0-E917F203853A}" type="presOf" srcId="{4D368648-C778-4BF2-9731-3F41068E3C2E}" destId="{ED11D245-235A-47A1-84C4-B006A3592CBA}" srcOrd="0" destOrd="0" presId="urn:microsoft.com/office/officeart/2016/7/layout/VerticalSolidActionList"/>
    <dgm:cxn modelId="{576C9069-1E5E-4003-B4EB-683402A03A59}" type="presOf" srcId="{C2D01A92-5F60-4B33-8D4D-BC26F2F3460C}" destId="{99007C9D-1AB5-42BF-B7FE-F07D9C43C80D}" srcOrd="0" destOrd="0" presId="urn:microsoft.com/office/officeart/2016/7/layout/VerticalSolidActionList"/>
    <dgm:cxn modelId="{83500F4D-E652-42B6-B18F-7EE0E1765156}" type="presOf" srcId="{6A2A8172-2690-470C-9D6C-A5386AE6FFA2}" destId="{2944C862-8AF2-47B1-92BE-C837831FD266}" srcOrd="0" destOrd="0" presId="urn:microsoft.com/office/officeart/2016/7/layout/VerticalSolidActionList"/>
    <dgm:cxn modelId="{B9EBF34E-C5CD-4BED-B678-8C3D75119659}" type="presOf" srcId="{427AB76E-9B8C-49E5-8057-862F90636E3F}" destId="{D8E7EA98-2D11-4306-A3D9-C84CA67AB5A5}" srcOrd="0" destOrd="0" presId="urn:microsoft.com/office/officeart/2016/7/layout/VerticalSolidActionList"/>
    <dgm:cxn modelId="{B4D2F971-800F-4A69-BFBE-F545DA8522F9}" srcId="{1256969D-91DE-4ED2-8C52-B0087ED3B235}" destId="{C2D01A92-5F60-4B33-8D4D-BC26F2F3460C}" srcOrd="3" destOrd="0" parTransId="{2650893A-EB14-43AC-9516-705D135D6E2D}" sibTransId="{B130625C-F569-43C4-84CF-D0BF1CA44AC1}"/>
    <dgm:cxn modelId="{84DD7F54-F6E8-4889-B448-8782F49DB5A6}" srcId="{1256969D-91DE-4ED2-8C52-B0087ED3B235}" destId="{6A2A8172-2690-470C-9D6C-A5386AE6FFA2}" srcOrd="0" destOrd="0" parTransId="{EC2B0867-21D3-47CB-912F-1471293DE3A8}" sibTransId="{5CD1122D-3753-49DF-90D0-F7F2631214C8}"/>
    <dgm:cxn modelId="{B43A4A55-6955-4D8F-A6D6-3490AA3A74D8}" srcId="{1256969D-91DE-4ED2-8C52-B0087ED3B235}" destId="{427AB76E-9B8C-49E5-8057-862F90636E3F}" srcOrd="5" destOrd="0" parTransId="{5BD68C47-DB5B-4387-B850-1F09DEF0E8F0}" sibTransId="{0A33C6D8-A590-4097-B0F0-EB855F43C9E9}"/>
    <dgm:cxn modelId="{6CACC555-7D16-4BCF-A823-6AA25143C9B5}" type="presOf" srcId="{345F6A69-35F1-45EA-B45D-5A17589F412B}" destId="{D0391445-7404-4656-BDA2-3E3842197A4F}" srcOrd="0" destOrd="0" presId="urn:microsoft.com/office/officeart/2016/7/layout/VerticalSolidActionList"/>
    <dgm:cxn modelId="{803BEC76-D9AD-4B6D-9878-83312224FE4D}" type="presOf" srcId="{1256969D-91DE-4ED2-8C52-B0087ED3B235}" destId="{01B751A0-17DD-468D-A94F-22E2996EDA1F}" srcOrd="0" destOrd="0" presId="urn:microsoft.com/office/officeart/2016/7/layout/VerticalSolidActionList"/>
    <dgm:cxn modelId="{9098797A-C55A-4587-910A-34988D23214A}" type="presOf" srcId="{5D4CC3BD-363E-44F6-9437-8BC0711D8D36}" destId="{1F0F33C4-72B9-4133-BA9F-7011C2F18DAF}" srcOrd="0" destOrd="0" presId="urn:microsoft.com/office/officeart/2016/7/layout/VerticalSolidActionList"/>
    <dgm:cxn modelId="{0BCA4A86-EA36-4443-AE82-489131DCEED1}" type="presOf" srcId="{8EF7BB07-EE4F-40B1-B025-F2BF06D61FD8}" destId="{8C8E19E6-A430-4477-BA64-4B78F2FB3A30}" srcOrd="0" destOrd="0" presId="urn:microsoft.com/office/officeart/2016/7/layout/VerticalSolidActionList"/>
    <dgm:cxn modelId="{868DBC8A-C675-431F-8F14-0EEFEC0A2E1A}" srcId="{1256969D-91DE-4ED2-8C52-B0087ED3B235}" destId="{CE8FCF27-B0F3-48A9-8413-C75F8E43A595}" srcOrd="2" destOrd="0" parTransId="{BE6B2F99-F440-46E2-B1FC-6AAFC6C6D5B5}" sibTransId="{3D083786-0C94-4725-B8F6-7B3103B0F7C8}"/>
    <dgm:cxn modelId="{FF1555A7-04E3-4E36-8E9B-52B4609CD057}" type="presOf" srcId="{8C4BE4AF-E3A8-443B-A83D-EB7AAB738091}" destId="{3846652F-DCE5-49ED-A712-3F76749AD5F7}" srcOrd="0" destOrd="0" presId="urn:microsoft.com/office/officeart/2016/7/layout/VerticalSolidActionList"/>
    <dgm:cxn modelId="{4E6B70CD-30B8-4765-9785-1B553FB5B65D}" srcId="{6A2A8172-2690-470C-9D6C-A5386AE6FFA2}" destId="{2118E9C1-3971-4D1D-9814-DD4076738A63}" srcOrd="0" destOrd="0" parTransId="{9720F703-C6F1-4530-BD01-094C39B986D1}" sibTransId="{EB775929-7F9B-4169-9CAC-A5B825339846}"/>
    <dgm:cxn modelId="{AF834DE9-3360-4EAC-823D-B0B80E175F30}" srcId="{C2D01A92-5F60-4B33-8D4D-BC26F2F3460C}" destId="{5D4CC3BD-363E-44F6-9437-8BC0711D8D36}" srcOrd="0" destOrd="0" parTransId="{004B4FB2-71D0-4C28-B1B8-F0606AD025AE}" sibTransId="{2A553364-935B-4EC4-A868-7ADE1FDB0869}"/>
    <dgm:cxn modelId="{871072EE-A4F7-4B38-8390-5766EF7EF899}" srcId="{1256969D-91DE-4ED2-8C52-B0087ED3B235}" destId="{4D368648-C778-4BF2-9731-3F41068E3C2E}" srcOrd="1" destOrd="0" parTransId="{A26179C7-72C7-4EAF-BA2B-6A7DFF551635}" sibTransId="{E9F1ED3A-E9F2-4E85-B333-D8BE154E6E07}"/>
    <dgm:cxn modelId="{40CB96F4-A461-4016-80F9-C170715212A3}" srcId="{9D7C04E1-00FE-4DC6-91DB-125F56D1D41C}" destId="{8EF7BB07-EE4F-40B1-B025-F2BF06D61FD8}" srcOrd="0" destOrd="0" parTransId="{1020BE8F-8147-4894-92F1-0ECF78CCD326}" sibTransId="{506BC0E4-DB7F-4620-B154-1F0345962514}"/>
    <dgm:cxn modelId="{F390FFF6-7580-4229-93CE-74B134ADA62C}" srcId="{4D368648-C778-4BF2-9731-3F41068E3C2E}" destId="{A20E5FCC-3364-460A-87F2-B7C43C7D7188}" srcOrd="0" destOrd="0" parTransId="{467EF19B-458C-4938-BF6B-16B9AFF38AF6}" sibTransId="{FC25091E-BF8A-4EC1-8D32-6C53A51D5DB8}"/>
    <dgm:cxn modelId="{CD4A08FB-8979-44EE-A284-1D8389185600}" type="presOf" srcId="{CE8FCF27-B0F3-48A9-8413-C75F8E43A595}" destId="{1F8D99E3-5B59-42C9-919D-68EC343CAAB6}" srcOrd="0" destOrd="0" presId="urn:microsoft.com/office/officeart/2016/7/layout/VerticalSolidActionList"/>
    <dgm:cxn modelId="{F9D97F73-8B68-4260-8F05-9E49CDC74EDF}" type="presParOf" srcId="{01B751A0-17DD-468D-A94F-22E2996EDA1F}" destId="{9CA7FB52-D58C-4C4A-8200-B6A87C2800C4}" srcOrd="0" destOrd="0" presId="urn:microsoft.com/office/officeart/2016/7/layout/VerticalSolidActionList"/>
    <dgm:cxn modelId="{FFD4ADF5-2E87-453B-B79E-5130BF8F6209}" type="presParOf" srcId="{9CA7FB52-D58C-4C4A-8200-B6A87C2800C4}" destId="{2944C862-8AF2-47B1-92BE-C837831FD266}" srcOrd="0" destOrd="0" presId="urn:microsoft.com/office/officeart/2016/7/layout/VerticalSolidActionList"/>
    <dgm:cxn modelId="{AB51AC9B-9141-49F7-8406-680EA9440668}" type="presParOf" srcId="{9CA7FB52-D58C-4C4A-8200-B6A87C2800C4}" destId="{B8DF86D8-2A1C-4B75-BDE9-6C00C02FCFF9}" srcOrd="1" destOrd="0" presId="urn:microsoft.com/office/officeart/2016/7/layout/VerticalSolidActionList"/>
    <dgm:cxn modelId="{6AEAB0C2-D5EA-404A-A2D9-D8F96717AFC7}" type="presParOf" srcId="{01B751A0-17DD-468D-A94F-22E2996EDA1F}" destId="{A489E5F0-4627-48DD-8F7F-9B98FD06044A}" srcOrd="1" destOrd="0" presId="urn:microsoft.com/office/officeart/2016/7/layout/VerticalSolidActionList"/>
    <dgm:cxn modelId="{18A9A276-8D9D-4F1A-8B8E-AF58BCE77AE8}" type="presParOf" srcId="{01B751A0-17DD-468D-A94F-22E2996EDA1F}" destId="{5577A1A2-11EA-4454-B712-371CC641ABC3}" srcOrd="2" destOrd="0" presId="urn:microsoft.com/office/officeart/2016/7/layout/VerticalSolidActionList"/>
    <dgm:cxn modelId="{B5FC57DF-EBBE-41D0-A42F-1E2304FA88F0}" type="presParOf" srcId="{5577A1A2-11EA-4454-B712-371CC641ABC3}" destId="{ED11D245-235A-47A1-84C4-B006A3592CBA}" srcOrd="0" destOrd="0" presId="urn:microsoft.com/office/officeart/2016/7/layout/VerticalSolidActionList"/>
    <dgm:cxn modelId="{EEE62F5C-E339-41A8-A4EE-3B71F7CDB019}" type="presParOf" srcId="{5577A1A2-11EA-4454-B712-371CC641ABC3}" destId="{801DD81C-AEFF-459B-B6D5-F6B0D995BE7F}" srcOrd="1" destOrd="0" presId="urn:microsoft.com/office/officeart/2016/7/layout/VerticalSolidActionList"/>
    <dgm:cxn modelId="{FF2A4F44-8D04-4106-B9B4-26E44B3E0609}" type="presParOf" srcId="{01B751A0-17DD-468D-A94F-22E2996EDA1F}" destId="{F71333EB-53E5-4F22-8B78-1C7B59CFCA38}" srcOrd="3" destOrd="0" presId="urn:microsoft.com/office/officeart/2016/7/layout/VerticalSolidActionList"/>
    <dgm:cxn modelId="{82ABC79F-135C-4DAA-9296-9FAF087CB991}" type="presParOf" srcId="{01B751A0-17DD-468D-A94F-22E2996EDA1F}" destId="{1761E706-9BB2-4A39-BF35-0BECF2374C89}" srcOrd="4" destOrd="0" presId="urn:microsoft.com/office/officeart/2016/7/layout/VerticalSolidActionList"/>
    <dgm:cxn modelId="{7BB4DC44-A9CC-4F9D-8C3C-C0B53A549FAA}" type="presParOf" srcId="{1761E706-9BB2-4A39-BF35-0BECF2374C89}" destId="{1F8D99E3-5B59-42C9-919D-68EC343CAAB6}" srcOrd="0" destOrd="0" presId="urn:microsoft.com/office/officeart/2016/7/layout/VerticalSolidActionList"/>
    <dgm:cxn modelId="{C7AB9FDB-E742-4AF6-94E9-D9B12BB5C811}" type="presParOf" srcId="{1761E706-9BB2-4A39-BF35-0BECF2374C89}" destId="{D0391445-7404-4656-BDA2-3E3842197A4F}" srcOrd="1" destOrd="0" presId="urn:microsoft.com/office/officeart/2016/7/layout/VerticalSolidActionList"/>
    <dgm:cxn modelId="{BE12EBEC-566B-4921-9230-76A0214B9A33}" type="presParOf" srcId="{01B751A0-17DD-468D-A94F-22E2996EDA1F}" destId="{9CA967EF-7007-48E1-B217-D8FCB533C656}" srcOrd="5" destOrd="0" presId="urn:microsoft.com/office/officeart/2016/7/layout/VerticalSolidActionList"/>
    <dgm:cxn modelId="{6AF666F5-9019-4924-9097-238B81444522}" type="presParOf" srcId="{01B751A0-17DD-468D-A94F-22E2996EDA1F}" destId="{3E7BD958-FA6D-4E49-BB00-A8C4FD1E4D31}" srcOrd="6" destOrd="0" presId="urn:microsoft.com/office/officeart/2016/7/layout/VerticalSolidActionList"/>
    <dgm:cxn modelId="{B7AA1C28-9005-46A4-8084-074DE1C7E167}" type="presParOf" srcId="{3E7BD958-FA6D-4E49-BB00-A8C4FD1E4D31}" destId="{99007C9D-1AB5-42BF-B7FE-F07D9C43C80D}" srcOrd="0" destOrd="0" presId="urn:microsoft.com/office/officeart/2016/7/layout/VerticalSolidActionList"/>
    <dgm:cxn modelId="{AD4AC6F2-E013-487A-929F-61E5462CB688}" type="presParOf" srcId="{3E7BD958-FA6D-4E49-BB00-A8C4FD1E4D31}" destId="{1F0F33C4-72B9-4133-BA9F-7011C2F18DAF}" srcOrd="1" destOrd="0" presId="urn:microsoft.com/office/officeart/2016/7/layout/VerticalSolidActionList"/>
    <dgm:cxn modelId="{F3AF3213-7EA4-45D1-9723-1B49F282EE7C}" type="presParOf" srcId="{01B751A0-17DD-468D-A94F-22E2996EDA1F}" destId="{E821481D-CAFA-4D91-AA51-1365F4201C47}" srcOrd="7" destOrd="0" presId="urn:microsoft.com/office/officeart/2016/7/layout/VerticalSolidActionList"/>
    <dgm:cxn modelId="{86CECB38-3E4C-41BB-B24F-F594F01DE04B}" type="presParOf" srcId="{01B751A0-17DD-468D-A94F-22E2996EDA1F}" destId="{94524DC1-0276-4AF5-937B-82A5CF7022FD}" srcOrd="8" destOrd="0" presId="urn:microsoft.com/office/officeart/2016/7/layout/VerticalSolidActionList"/>
    <dgm:cxn modelId="{B5BDF24D-FFFC-4DAF-931B-72F8F2CEC9C1}" type="presParOf" srcId="{94524DC1-0276-4AF5-937B-82A5CF7022FD}" destId="{8C7DBF6B-9E6B-4B33-8735-C11E5D8DE069}" srcOrd="0" destOrd="0" presId="urn:microsoft.com/office/officeart/2016/7/layout/VerticalSolidActionList"/>
    <dgm:cxn modelId="{11C6450E-A161-40C4-B8EF-6E5A9D6A2F1E}" type="presParOf" srcId="{94524DC1-0276-4AF5-937B-82A5CF7022FD}" destId="{8C8E19E6-A430-4477-BA64-4B78F2FB3A30}" srcOrd="1" destOrd="0" presId="urn:microsoft.com/office/officeart/2016/7/layout/VerticalSolidActionList"/>
    <dgm:cxn modelId="{27A8BC70-12A9-4436-89F1-02BCABF5EE3F}" type="presParOf" srcId="{01B751A0-17DD-468D-A94F-22E2996EDA1F}" destId="{FB15AE34-1C93-4C9F-A0F3-3D51650BD8C8}" srcOrd="9" destOrd="0" presId="urn:microsoft.com/office/officeart/2016/7/layout/VerticalSolidActionList"/>
    <dgm:cxn modelId="{33244208-7797-46CF-AA37-561692E74DE7}" type="presParOf" srcId="{01B751A0-17DD-468D-A94F-22E2996EDA1F}" destId="{1689BC7F-A8C3-4823-9B2D-1101F99B5120}" srcOrd="10" destOrd="0" presId="urn:microsoft.com/office/officeart/2016/7/layout/VerticalSolidActionList"/>
    <dgm:cxn modelId="{90F2A4FE-1C0F-4914-9B94-D1C62693DD07}" type="presParOf" srcId="{1689BC7F-A8C3-4823-9B2D-1101F99B5120}" destId="{D8E7EA98-2D11-4306-A3D9-C84CA67AB5A5}" srcOrd="0" destOrd="0" presId="urn:microsoft.com/office/officeart/2016/7/layout/VerticalSolidActionList"/>
    <dgm:cxn modelId="{C25FFB67-258A-4664-936A-D77D058FC49B}" type="presParOf" srcId="{1689BC7F-A8C3-4823-9B2D-1101F99B5120}" destId="{3846652F-DCE5-49ED-A712-3F76749AD5F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1F7CA7-35A8-4BCA-8D74-169521C98FF6}" type="doc">
      <dgm:prSet loTypeId="urn:microsoft.com/office/officeart/2005/8/layout/vList5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53C7CE8-D551-418B-B35D-0D8295BF9EDD}">
      <dgm:prSet/>
      <dgm:spPr/>
      <dgm:t>
        <a:bodyPr/>
        <a:lstStyle/>
        <a:p>
          <a:r>
            <a:rPr lang="en-US" b="1"/>
            <a:t>Encapsulation</a:t>
          </a:r>
          <a:r>
            <a:rPr lang="en-US"/>
            <a:t>: Private fields (e.g., accounts in Bank).</a:t>
          </a:r>
        </a:p>
      </dgm:t>
    </dgm:pt>
    <dgm:pt modelId="{74EEB083-5A0E-47D9-8AF7-73DFF0D4B664}" type="parTrans" cxnId="{5F57EF9C-16D1-409A-A740-D3314E4FB263}">
      <dgm:prSet/>
      <dgm:spPr/>
      <dgm:t>
        <a:bodyPr/>
        <a:lstStyle/>
        <a:p>
          <a:endParaRPr lang="en-US"/>
        </a:p>
      </dgm:t>
    </dgm:pt>
    <dgm:pt modelId="{55B6628D-0289-4187-A86B-39A6C3BF84DC}" type="sibTrans" cxnId="{5F57EF9C-16D1-409A-A740-D3314E4FB263}">
      <dgm:prSet/>
      <dgm:spPr/>
      <dgm:t>
        <a:bodyPr/>
        <a:lstStyle/>
        <a:p>
          <a:endParaRPr lang="en-US"/>
        </a:p>
      </dgm:t>
    </dgm:pt>
    <dgm:pt modelId="{F50359FC-29C3-4D4A-BC72-109CE48332BF}">
      <dgm:prSet/>
      <dgm:spPr/>
      <dgm:t>
        <a:bodyPr/>
        <a:lstStyle/>
        <a:p>
          <a:r>
            <a:rPr lang="en-US" b="1"/>
            <a:t>Inheritance</a:t>
          </a:r>
          <a:r>
            <a:rPr lang="en-US"/>
            <a:t>: PersonalLoan and HomeLoan inherit from Loan.</a:t>
          </a:r>
        </a:p>
      </dgm:t>
    </dgm:pt>
    <dgm:pt modelId="{836700D3-A215-4F31-88B6-F2FD24771D4B}" type="parTrans" cxnId="{719CDE7A-F75F-4BBC-A4BD-004BC915D1EB}">
      <dgm:prSet/>
      <dgm:spPr/>
      <dgm:t>
        <a:bodyPr/>
        <a:lstStyle/>
        <a:p>
          <a:endParaRPr lang="en-US"/>
        </a:p>
      </dgm:t>
    </dgm:pt>
    <dgm:pt modelId="{B643A5E9-424B-482B-A39E-F8C1A3CC078E}" type="sibTrans" cxnId="{719CDE7A-F75F-4BBC-A4BD-004BC915D1EB}">
      <dgm:prSet/>
      <dgm:spPr/>
      <dgm:t>
        <a:bodyPr/>
        <a:lstStyle/>
        <a:p>
          <a:endParaRPr lang="en-US"/>
        </a:p>
      </dgm:t>
    </dgm:pt>
    <dgm:pt modelId="{8D6AF4C3-0BDA-4173-95EF-06C3839A268E}">
      <dgm:prSet/>
      <dgm:spPr/>
      <dgm:t>
        <a:bodyPr/>
        <a:lstStyle/>
        <a:p>
          <a:r>
            <a:rPr lang="en-US" b="1"/>
            <a:t>Abstraction</a:t>
          </a:r>
          <a:r>
            <a:rPr lang="en-US"/>
            <a:t>: Loan abstract class hides implementation details.</a:t>
          </a:r>
        </a:p>
      </dgm:t>
    </dgm:pt>
    <dgm:pt modelId="{4BD619B6-AD37-4D46-BF5C-34A862B97AAD}" type="parTrans" cxnId="{7C5323C3-14E8-4DC2-82E5-9116FAA9B98B}">
      <dgm:prSet/>
      <dgm:spPr/>
      <dgm:t>
        <a:bodyPr/>
        <a:lstStyle/>
        <a:p>
          <a:endParaRPr lang="en-US"/>
        </a:p>
      </dgm:t>
    </dgm:pt>
    <dgm:pt modelId="{2DC8C3CE-1B70-47D1-B1E8-910A73D63C59}" type="sibTrans" cxnId="{7C5323C3-14E8-4DC2-82E5-9116FAA9B98B}">
      <dgm:prSet/>
      <dgm:spPr/>
      <dgm:t>
        <a:bodyPr/>
        <a:lstStyle/>
        <a:p>
          <a:endParaRPr lang="en-US"/>
        </a:p>
      </dgm:t>
    </dgm:pt>
    <dgm:pt modelId="{6F242A03-0FA9-46B0-97DC-74A5E3434B97}">
      <dgm:prSet/>
      <dgm:spPr/>
      <dgm:t>
        <a:bodyPr/>
        <a:lstStyle/>
        <a:p>
          <a:r>
            <a:rPr lang="en-US" b="1"/>
            <a:t>Polymorphism</a:t>
          </a:r>
          <a:r>
            <a:rPr lang="en-US"/>
            <a:t>: Loan type determined at runtime in BankingSystem.</a:t>
          </a:r>
        </a:p>
      </dgm:t>
    </dgm:pt>
    <dgm:pt modelId="{164A824B-AB3F-4E23-82A9-27B6D468902F}" type="parTrans" cxnId="{1A9862DA-3F68-4D62-941C-E2A2CDB5CEB5}">
      <dgm:prSet/>
      <dgm:spPr/>
      <dgm:t>
        <a:bodyPr/>
        <a:lstStyle/>
        <a:p>
          <a:endParaRPr lang="en-US"/>
        </a:p>
      </dgm:t>
    </dgm:pt>
    <dgm:pt modelId="{6124A67F-6DB8-47D2-86C9-32D111619607}" type="sibTrans" cxnId="{1A9862DA-3F68-4D62-941C-E2A2CDB5CEB5}">
      <dgm:prSet/>
      <dgm:spPr/>
      <dgm:t>
        <a:bodyPr/>
        <a:lstStyle/>
        <a:p>
          <a:endParaRPr lang="en-US"/>
        </a:p>
      </dgm:t>
    </dgm:pt>
    <dgm:pt modelId="{3FC4E149-EFC6-46F4-A282-32FD621374DC}" type="pres">
      <dgm:prSet presAssocID="{0B1F7CA7-35A8-4BCA-8D74-169521C98FF6}" presName="Name0" presStyleCnt="0">
        <dgm:presLayoutVars>
          <dgm:dir/>
          <dgm:animLvl val="lvl"/>
          <dgm:resizeHandles val="exact"/>
        </dgm:presLayoutVars>
      </dgm:prSet>
      <dgm:spPr/>
    </dgm:pt>
    <dgm:pt modelId="{51B2B891-F4E1-4B56-9C77-F5B334D3EF31}" type="pres">
      <dgm:prSet presAssocID="{253C7CE8-D551-418B-B35D-0D8295BF9EDD}" presName="linNode" presStyleCnt="0"/>
      <dgm:spPr/>
    </dgm:pt>
    <dgm:pt modelId="{67009FCE-C877-4A50-8E84-D1A38684269E}" type="pres">
      <dgm:prSet presAssocID="{253C7CE8-D551-418B-B35D-0D8295BF9ED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B039B86-0C8F-46CC-9DED-44DFB58F5C7A}" type="pres">
      <dgm:prSet presAssocID="{55B6628D-0289-4187-A86B-39A6C3BF84DC}" presName="sp" presStyleCnt="0"/>
      <dgm:spPr/>
    </dgm:pt>
    <dgm:pt modelId="{072D7ECB-F187-4DB8-B72B-D827725EED10}" type="pres">
      <dgm:prSet presAssocID="{F50359FC-29C3-4D4A-BC72-109CE48332BF}" presName="linNode" presStyleCnt="0"/>
      <dgm:spPr/>
    </dgm:pt>
    <dgm:pt modelId="{1381D989-39F5-4FAD-B1EB-517B2B12FA38}" type="pres">
      <dgm:prSet presAssocID="{F50359FC-29C3-4D4A-BC72-109CE48332B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BD6F29E-6BBA-4FD9-A811-3F143DD80542}" type="pres">
      <dgm:prSet presAssocID="{B643A5E9-424B-482B-A39E-F8C1A3CC078E}" presName="sp" presStyleCnt="0"/>
      <dgm:spPr/>
    </dgm:pt>
    <dgm:pt modelId="{3034E5CE-32B1-48AC-94AB-20F9B66C9BF3}" type="pres">
      <dgm:prSet presAssocID="{8D6AF4C3-0BDA-4173-95EF-06C3839A268E}" presName="linNode" presStyleCnt="0"/>
      <dgm:spPr/>
    </dgm:pt>
    <dgm:pt modelId="{F6C36D17-482A-47D2-B48C-99143188477F}" type="pres">
      <dgm:prSet presAssocID="{8D6AF4C3-0BDA-4173-95EF-06C3839A268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F528591-5500-4430-A287-3212487FDA3C}" type="pres">
      <dgm:prSet presAssocID="{2DC8C3CE-1B70-47D1-B1E8-910A73D63C59}" presName="sp" presStyleCnt="0"/>
      <dgm:spPr/>
    </dgm:pt>
    <dgm:pt modelId="{98CEE76C-832E-4042-8268-C8A54BCB5477}" type="pres">
      <dgm:prSet presAssocID="{6F242A03-0FA9-46B0-97DC-74A5E3434B97}" presName="linNode" presStyleCnt="0"/>
      <dgm:spPr/>
    </dgm:pt>
    <dgm:pt modelId="{54E09DD5-FBE4-476C-8A4D-FD02B4AB993A}" type="pres">
      <dgm:prSet presAssocID="{6F242A03-0FA9-46B0-97DC-74A5E3434B97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AE3FB81F-4084-49B5-B7B9-68C1E7ED436F}" type="presOf" srcId="{0B1F7CA7-35A8-4BCA-8D74-169521C98FF6}" destId="{3FC4E149-EFC6-46F4-A282-32FD621374DC}" srcOrd="0" destOrd="0" presId="urn:microsoft.com/office/officeart/2005/8/layout/vList5"/>
    <dgm:cxn modelId="{55430C24-C946-4502-AF78-B6B4F170BB30}" type="presOf" srcId="{6F242A03-0FA9-46B0-97DC-74A5E3434B97}" destId="{54E09DD5-FBE4-476C-8A4D-FD02B4AB993A}" srcOrd="0" destOrd="0" presId="urn:microsoft.com/office/officeart/2005/8/layout/vList5"/>
    <dgm:cxn modelId="{719CDE7A-F75F-4BBC-A4BD-004BC915D1EB}" srcId="{0B1F7CA7-35A8-4BCA-8D74-169521C98FF6}" destId="{F50359FC-29C3-4D4A-BC72-109CE48332BF}" srcOrd="1" destOrd="0" parTransId="{836700D3-A215-4F31-88B6-F2FD24771D4B}" sibTransId="{B643A5E9-424B-482B-A39E-F8C1A3CC078E}"/>
    <dgm:cxn modelId="{B9F4A894-BB7E-4F12-8333-62999DCDB2F2}" type="presOf" srcId="{253C7CE8-D551-418B-B35D-0D8295BF9EDD}" destId="{67009FCE-C877-4A50-8E84-D1A38684269E}" srcOrd="0" destOrd="0" presId="urn:microsoft.com/office/officeart/2005/8/layout/vList5"/>
    <dgm:cxn modelId="{5F57EF9C-16D1-409A-A740-D3314E4FB263}" srcId="{0B1F7CA7-35A8-4BCA-8D74-169521C98FF6}" destId="{253C7CE8-D551-418B-B35D-0D8295BF9EDD}" srcOrd="0" destOrd="0" parTransId="{74EEB083-5A0E-47D9-8AF7-73DFF0D4B664}" sibTransId="{55B6628D-0289-4187-A86B-39A6C3BF84DC}"/>
    <dgm:cxn modelId="{CB6222B4-1B2F-4A70-9A25-96106EDF6D72}" type="presOf" srcId="{F50359FC-29C3-4D4A-BC72-109CE48332BF}" destId="{1381D989-39F5-4FAD-B1EB-517B2B12FA38}" srcOrd="0" destOrd="0" presId="urn:microsoft.com/office/officeart/2005/8/layout/vList5"/>
    <dgm:cxn modelId="{7C5323C3-14E8-4DC2-82E5-9116FAA9B98B}" srcId="{0B1F7CA7-35A8-4BCA-8D74-169521C98FF6}" destId="{8D6AF4C3-0BDA-4173-95EF-06C3839A268E}" srcOrd="2" destOrd="0" parTransId="{4BD619B6-AD37-4D46-BF5C-34A862B97AAD}" sibTransId="{2DC8C3CE-1B70-47D1-B1E8-910A73D63C59}"/>
    <dgm:cxn modelId="{1A9862DA-3F68-4D62-941C-E2A2CDB5CEB5}" srcId="{0B1F7CA7-35A8-4BCA-8D74-169521C98FF6}" destId="{6F242A03-0FA9-46B0-97DC-74A5E3434B97}" srcOrd="3" destOrd="0" parTransId="{164A824B-AB3F-4E23-82A9-27B6D468902F}" sibTransId="{6124A67F-6DB8-47D2-86C9-32D111619607}"/>
    <dgm:cxn modelId="{F4A972DA-80B6-40A4-9CA1-4DDE36AF03FF}" type="presOf" srcId="{8D6AF4C3-0BDA-4173-95EF-06C3839A268E}" destId="{F6C36D17-482A-47D2-B48C-99143188477F}" srcOrd="0" destOrd="0" presId="urn:microsoft.com/office/officeart/2005/8/layout/vList5"/>
    <dgm:cxn modelId="{C7AFC079-EF56-4B83-B3C3-7BC03D2DBC98}" type="presParOf" srcId="{3FC4E149-EFC6-46F4-A282-32FD621374DC}" destId="{51B2B891-F4E1-4B56-9C77-F5B334D3EF31}" srcOrd="0" destOrd="0" presId="urn:microsoft.com/office/officeart/2005/8/layout/vList5"/>
    <dgm:cxn modelId="{30663070-354E-4F57-8FDD-6A86CCE22B8A}" type="presParOf" srcId="{51B2B891-F4E1-4B56-9C77-F5B334D3EF31}" destId="{67009FCE-C877-4A50-8E84-D1A38684269E}" srcOrd="0" destOrd="0" presId="urn:microsoft.com/office/officeart/2005/8/layout/vList5"/>
    <dgm:cxn modelId="{FD680DBB-2EEC-4581-B439-9043788EE119}" type="presParOf" srcId="{3FC4E149-EFC6-46F4-A282-32FD621374DC}" destId="{AB039B86-0C8F-46CC-9DED-44DFB58F5C7A}" srcOrd="1" destOrd="0" presId="urn:microsoft.com/office/officeart/2005/8/layout/vList5"/>
    <dgm:cxn modelId="{0CA88AC8-4DF8-4A55-A103-50098A95C217}" type="presParOf" srcId="{3FC4E149-EFC6-46F4-A282-32FD621374DC}" destId="{072D7ECB-F187-4DB8-B72B-D827725EED10}" srcOrd="2" destOrd="0" presId="urn:microsoft.com/office/officeart/2005/8/layout/vList5"/>
    <dgm:cxn modelId="{153AEC7C-90F5-43F3-B311-B4BE3FD0FE32}" type="presParOf" srcId="{072D7ECB-F187-4DB8-B72B-D827725EED10}" destId="{1381D989-39F5-4FAD-B1EB-517B2B12FA38}" srcOrd="0" destOrd="0" presId="urn:microsoft.com/office/officeart/2005/8/layout/vList5"/>
    <dgm:cxn modelId="{B19780B2-9533-402B-8789-FCF4074D7179}" type="presParOf" srcId="{3FC4E149-EFC6-46F4-A282-32FD621374DC}" destId="{EBD6F29E-6BBA-4FD9-A811-3F143DD80542}" srcOrd="3" destOrd="0" presId="urn:microsoft.com/office/officeart/2005/8/layout/vList5"/>
    <dgm:cxn modelId="{F5E15CEC-2EF5-4192-8CC9-C512E363821E}" type="presParOf" srcId="{3FC4E149-EFC6-46F4-A282-32FD621374DC}" destId="{3034E5CE-32B1-48AC-94AB-20F9B66C9BF3}" srcOrd="4" destOrd="0" presId="urn:microsoft.com/office/officeart/2005/8/layout/vList5"/>
    <dgm:cxn modelId="{1A12E5D9-0DC8-4EC3-86D5-8EC263A7B859}" type="presParOf" srcId="{3034E5CE-32B1-48AC-94AB-20F9B66C9BF3}" destId="{F6C36D17-482A-47D2-B48C-99143188477F}" srcOrd="0" destOrd="0" presId="urn:microsoft.com/office/officeart/2005/8/layout/vList5"/>
    <dgm:cxn modelId="{C2A14E96-8457-43C1-91F4-E04030D786FD}" type="presParOf" srcId="{3FC4E149-EFC6-46F4-A282-32FD621374DC}" destId="{3F528591-5500-4430-A287-3212487FDA3C}" srcOrd="5" destOrd="0" presId="urn:microsoft.com/office/officeart/2005/8/layout/vList5"/>
    <dgm:cxn modelId="{5EF8865E-7FDA-49ED-A216-1422B02BFF87}" type="presParOf" srcId="{3FC4E149-EFC6-46F4-A282-32FD621374DC}" destId="{98CEE76C-832E-4042-8268-C8A54BCB5477}" srcOrd="6" destOrd="0" presId="urn:microsoft.com/office/officeart/2005/8/layout/vList5"/>
    <dgm:cxn modelId="{7F86727C-E9FC-4FA3-874C-317B3320BDB9}" type="presParOf" srcId="{98CEE76C-832E-4042-8268-C8A54BCB5477}" destId="{54E09DD5-FBE4-476C-8A4D-FD02B4AB993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F86D8-2A1C-4B75-BDE9-6C00C02FCFF9}">
      <dsp:nvSpPr>
        <dsp:cNvPr id="0" name=""/>
        <dsp:cNvSpPr/>
      </dsp:nvSpPr>
      <dsp:spPr>
        <a:xfrm>
          <a:off x="2103120" y="531"/>
          <a:ext cx="8412480" cy="69051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 a Java-based banking system to simulate real-world banking operations.</a:t>
          </a:r>
        </a:p>
      </dsp:txBody>
      <dsp:txXfrm>
        <a:off x="2103120" y="531"/>
        <a:ext cx="8412480" cy="690519"/>
      </dsp:txXfrm>
    </dsp:sp>
    <dsp:sp modelId="{2944C862-8AF2-47B1-92BE-C837831FD266}">
      <dsp:nvSpPr>
        <dsp:cNvPr id="0" name=""/>
        <dsp:cNvSpPr/>
      </dsp:nvSpPr>
      <dsp:spPr>
        <a:xfrm>
          <a:off x="0" y="531"/>
          <a:ext cx="2103120" cy="690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Develop</a:t>
          </a:r>
        </a:p>
      </dsp:txBody>
      <dsp:txXfrm>
        <a:off x="0" y="531"/>
        <a:ext cx="2103120" cy="690519"/>
      </dsp:txXfrm>
    </dsp:sp>
    <dsp:sp modelId="{801DD81C-AEFF-459B-B6D5-F6B0D995BE7F}">
      <dsp:nvSpPr>
        <dsp:cNvPr id="0" name=""/>
        <dsp:cNvSpPr/>
      </dsp:nvSpPr>
      <dsp:spPr>
        <a:xfrm>
          <a:off x="2103120" y="732482"/>
          <a:ext cx="8412480" cy="69051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Enable users to create accounts, deposit/withdraw funds, and check balances.</a:t>
          </a:r>
        </a:p>
      </dsp:txBody>
      <dsp:txXfrm>
        <a:off x="2103120" y="732482"/>
        <a:ext cx="8412480" cy="690519"/>
      </dsp:txXfrm>
    </dsp:sp>
    <dsp:sp modelId="{ED11D245-235A-47A1-84C4-B006A3592CBA}">
      <dsp:nvSpPr>
        <dsp:cNvPr id="0" name=""/>
        <dsp:cNvSpPr/>
      </dsp:nvSpPr>
      <dsp:spPr>
        <a:xfrm>
          <a:off x="0" y="732482"/>
          <a:ext cx="2103120" cy="690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Enable</a:t>
          </a:r>
        </a:p>
      </dsp:txBody>
      <dsp:txXfrm>
        <a:off x="0" y="732482"/>
        <a:ext cx="2103120" cy="690519"/>
      </dsp:txXfrm>
    </dsp:sp>
    <dsp:sp modelId="{D0391445-7404-4656-BDA2-3E3842197A4F}">
      <dsp:nvSpPr>
        <dsp:cNvPr id="0" name=""/>
        <dsp:cNvSpPr/>
      </dsp:nvSpPr>
      <dsp:spPr>
        <a:xfrm>
          <a:off x="2103120" y="1464433"/>
          <a:ext cx="8412480" cy="69051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Provide loan application functionality (Personal and Home Loans) with eligibility checks.</a:t>
          </a:r>
        </a:p>
      </dsp:txBody>
      <dsp:txXfrm>
        <a:off x="2103120" y="1464433"/>
        <a:ext cx="8412480" cy="690519"/>
      </dsp:txXfrm>
    </dsp:sp>
    <dsp:sp modelId="{1F8D99E3-5B59-42C9-919D-68EC343CAAB6}">
      <dsp:nvSpPr>
        <dsp:cNvPr id="0" name=""/>
        <dsp:cNvSpPr/>
      </dsp:nvSpPr>
      <dsp:spPr>
        <a:xfrm>
          <a:off x="0" y="1464433"/>
          <a:ext cx="2103120" cy="690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Provide</a:t>
          </a:r>
        </a:p>
      </dsp:txBody>
      <dsp:txXfrm>
        <a:off x="0" y="1464433"/>
        <a:ext cx="2103120" cy="690519"/>
      </dsp:txXfrm>
    </dsp:sp>
    <dsp:sp modelId="{1F0F33C4-72B9-4133-BA9F-7011C2F18DAF}">
      <dsp:nvSpPr>
        <dsp:cNvPr id="0" name=""/>
        <dsp:cNvSpPr/>
      </dsp:nvSpPr>
      <dsp:spPr>
        <a:xfrm>
          <a:off x="2103120" y="2196384"/>
          <a:ext cx="8412480" cy="69051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Integrate a MySQL database for persistent data storage.</a:t>
          </a:r>
        </a:p>
      </dsp:txBody>
      <dsp:txXfrm>
        <a:off x="2103120" y="2196384"/>
        <a:ext cx="8412480" cy="690519"/>
      </dsp:txXfrm>
    </dsp:sp>
    <dsp:sp modelId="{99007C9D-1AB5-42BF-B7FE-F07D9C43C80D}">
      <dsp:nvSpPr>
        <dsp:cNvPr id="0" name=""/>
        <dsp:cNvSpPr/>
      </dsp:nvSpPr>
      <dsp:spPr>
        <a:xfrm>
          <a:off x="0" y="2196384"/>
          <a:ext cx="2103120" cy="690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Integrate</a:t>
          </a:r>
        </a:p>
      </dsp:txBody>
      <dsp:txXfrm>
        <a:off x="0" y="2196384"/>
        <a:ext cx="2103120" cy="690519"/>
      </dsp:txXfrm>
    </dsp:sp>
    <dsp:sp modelId="{8C8E19E6-A430-4477-BA64-4B78F2FB3A30}">
      <dsp:nvSpPr>
        <dsp:cNvPr id="0" name=""/>
        <dsp:cNvSpPr/>
      </dsp:nvSpPr>
      <dsp:spPr>
        <a:xfrm>
          <a:off x="2103120" y="2928335"/>
          <a:ext cx="8412480" cy="69051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 file handling to store loan application records.</a:t>
          </a:r>
        </a:p>
      </dsp:txBody>
      <dsp:txXfrm>
        <a:off x="2103120" y="2928335"/>
        <a:ext cx="8412480" cy="690519"/>
      </dsp:txXfrm>
    </dsp:sp>
    <dsp:sp modelId="{8C7DBF6B-9E6B-4B33-8735-C11E5D8DE069}">
      <dsp:nvSpPr>
        <dsp:cNvPr id="0" name=""/>
        <dsp:cNvSpPr/>
      </dsp:nvSpPr>
      <dsp:spPr>
        <a:xfrm>
          <a:off x="0" y="2928335"/>
          <a:ext cx="2103120" cy="690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Implement</a:t>
          </a:r>
        </a:p>
      </dsp:txBody>
      <dsp:txXfrm>
        <a:off x="0" y="2928335"/>
        <a:ext cx="2103120" cy="690519"/>
      </dsp:txXfrm>
    </dsp:sp>
    <dsp:sp modelId="{3846652F-DCE5-49ED-A712-3F76749AD5F7}">
      <dsp:nvSpPr>
        <dsp:cNvPr id="0" name=""/>
        <dsp:cNvSpPr/>
      </dsp:nvSpPr>
      <dsp:spPr>
        <a:xfrm>
          <a:off x="2103120" y="3660286"/>
          <a:ext cx="8412480" cy="690519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Ensure robust input validation and error handling for a user-friendly experience.</a:t>
          </a:r>
        </a:p>
      </dsp:txBody>
      <dsp:txXfrm>
        <a:off x="2103120" y="3660286"/>
        <a:ext cx="8412480" cy="690519"/>
      </dsp:txXfrm>
    </dsp:sp>
    <dsp:sp modelId="{D8E7EA98-2D11-4306-A3D9-C84CA67AB5A5}">
      <dsp:nvSpPr>
        <dsp:cNvPr id="0" name=""/>
        <dsp:cNvSpPr/>
      </dsp:nvSpPr>
      <dsp:spPr>
        <a:xfrm>
          <a:off x="0" y="3660286"/>
          <a:ext cx="2103120" cy="6905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Ensure</a:t>
          </a:r>
        </a:p>
      </dsp:txBody>
      <dsp:txXfrm>
        <a:off x="0" y="3660286"/>
        <a:ext cx="2103120" cy="690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009FCE-C877-4A50-8E84-D1A38684269E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Encapsulation</a:t>
          </a:r>
          <a:r>
            <a:rPr lang="en-US" sz="2000" kern="1200"/>
            <a:t>: Private fields (e.g., accounts in Bank).</a:t>
          </a:r>
        </a:p>
      </dsp:txBody>
      <dsp:txXfrm>
        <a:off x="3416125" y="53310"/>
        <a:ext cx="3683350" cy="945199"/>
      </dsp:txXfrm>
    </dsp:sp>
    <dsp:sp modelId="{1381D989-39F5-4FAD-B1EB-517B2B12FA38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Inheritance</a:t>
          </a:r>
          <a:r>
            <a:rPr lang="en-US" sz="2000" kern="1200"/>
            <a:t>: PersonalLoan and HomeLoan inherit from Loan.</a:t>
          </a:r>
        </a:p>
      </dsp:txBody>
      <dsp:txXfrm>
        <a:off x="3416125" y="1153149"/>
        <a:ext cx="3683350" cy="945199"/>
      </dsp:txXfrm>
    </dsp:sp>
    <dsp:sp modelId="{F6C36D17-482A-47D2-B48C-99143188477F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Abstraction</a:t>
          </a:r>
          <a:r>
            <a:rPr lang="en-US" sz="2000" kern="1200"/>
            <a:t>: Loan abstract class hides implementation details.</a:t>
          </a:r>
        </a:p>
      </dsp:txBody>
      <dsp:txXfrm>
        <a:off x="3416125" y="2252988"/>
        <a:ext cx="3683350" cy="945199"/>
      </dsp:txXfrm>
    </dsp:sp>
    <dsp:sp modelId="{54E09DD5-FBE4-476C-8A4D-FD02B4AB993A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Polymorphism</a:t>
          </a:r>
          <a:r>
            <a:rPr lang="en-US" sz="2000" kern="1200"/>
            <a:t>: Loan type determined at runtime in BankingSystem.</a:t>
          </a:r>
        </a:p>
      </dsp:txBody>
      <dsp:txXfrm>
        <a:off x="3416125" y="3352827"/>
        <a:ext cx="3683350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0D61-6C79-DF4F-59CC-6AEDEEAAC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07FFF-E2B4-18CC-5E6B-D0DE41FCC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6F4FD-7551-2AF9-035C-1CB93C0D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1B435-0942-4C3C-2A5F-31BB9537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5BCC-1402-EFB2-F10E-A91DAA73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9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B930-9CA0-DCA4-9394-E16D9114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847A6-9CD7-F40A-5D19-130B6D022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DC94D-0B71-9E88-8CFC-3C1D5C5B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7A539-35BE-0F17-590B-9F084D3C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340C3-316B-5136-29DB-A90D561C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0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53D5-8ED8-FE45-6018-C78EB903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A076F-E211-0A25-F4D8-A0B738A60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8908-40AF-3650-4CE3-11AF29A3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1C601-C14D-21C9-DF20-5515E2C8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21346-6344-C99A-EC63-E36EE1BD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2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F9D2-9586-4CD1-FD05-E6B2CDAE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AC2A2-9395-AD9A-8BF7-368F405D7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CFF5A-F27B-84D0-B1C1-CC5170B8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05735-9893-EDB3-D237-2702007C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37F3C-7FB9-05D7-3875-111ACECA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A0AD1-C033-D877-65AC-357795EC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2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49CC-09ED-8136-2A74-DAB9B548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DA8CC-5244-72E2-C634-7B25F7946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417EB-E521-A0DE-73A1-A6B249174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27569-AF5A-A41A-1D4F-C722D94F4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76BDA5-344B-E2DC-6FE7-DABBE8888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21E65-ED80-8DC3-A0E6-E2C95CC9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520DF-6226-4C81-2BD2-D632926E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92E10-3771-542F-65B7-0791B807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6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DED36-0615-4C2D-2CC0-8C3ACA3D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1CCB7-182A-6B48-1AD2-3AD37CFD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78140-F712-CCC2-8B50-AFC1542BB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B18BD-3130-46C1-968C-02FA803F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0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D381B-C7EA-66AD-3836-DE5BBBA6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3C124-3B53-B068-37D3-378A4219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03476-405F-78CC-FE7A-685DF17D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4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21C53-36D4-746A-D2E3-69D6C832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4C35B-5C25-D2A7-096B-6BFD9564B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809AE-F479-D34F-5944-A5E30EE33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9FD79-3391-2746-23E0-7DBD702D2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C3863-7F6A-CE5C-C3BE-40F82F1F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A67ED-0D66-2447-1773-E3C46F12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3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2A5D-0237-DE92-F7C8-E9913ACA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82821D-1FB3-962E-F548-CAA73882C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228D0-D26E-F5B1-5F46-075C6B7E5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E5E6D-D2B8-CB1C-63FD-2F36F6A5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A8E97-C2CB-0E54-4D24-BFB946A46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5F0C2-D99E-6CC1-28AC-1030FCC7C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3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3804-0C8C-C497-0A17-29BAB8CE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19CEC-B9E8-AA4C-26F6-628734CEC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F061E-B737-07E6-28C3-2FA09C45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9EA2C-E8C0-9857-EC2B-D073AEC4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74BF-EF30-5AD2-92C9-5DE01B089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8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C4CDA-E35B-36E0-6E3E-133AD8C53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EF0DC-8DF4-FDE9-C18D-C0D030C82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0E976-998A-16C2-9DF8-E3E7E0CE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E81EE-B190-848E-C4F3-173D4631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2CA6C-DE3E-4A26-6377-E256BA1D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FB29B-B289-03B8-70B0-B8869426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D241B-BE3C-68F5-46DB-DD69D18D4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502B9-DF03-D88D-8BCF-E1C022C6E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024A1-1211-45A4-A1AA-94983564209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B57D-7C9B-C0D3-C22D-DA5077D83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86DB1-1C50-E6D4-DEA9-01C259EC6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D03E2-D7FF-41FA-BAE1-D781550D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0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CC0CB-6434-3657-91E9-23C75CF3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136" y="836516"/>
            <a:ext cx="6596245" cy="3268520"/>
          </a:xfrm>
        </p:spPr>
        <p:txBody>
          <a:bodyPr>
            <a:normAutofit/>
          </a:bodyPr>
          <a:lstStyle/>
          <a:p>
            <a:r>
              <a:rPr lang="en-US" dirty="0"/>
              <a:t>PIJ Project Phase 1</a:t>
            </a:r>
            <a:br>
              <a:rPr lang="en-US" dirty="0"/>
            </a:br>
            <a:br>
              <a:rPr lang="en-US" sz="4800" dirty="0"/>
            </a:br>
            <a:r>
              <a:rPr lang="en-US" sz="4800" dirty="0">
                <a:solidFill>
                  <a:srgbClr val="FFFFFF"/>
                </a:solidFill>
              </a:rPr>
              <a:t> Bank Management System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51C9B-35A2-D199-C0FC-786744FBC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5925" y="5230043"/>
            <a:ext cx="6051236" cy="1241828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Members: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Rajat Dwivedi 23070126100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Utkarsh Dhar Dwivedi 23070126140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Yash Keshari 23070126148</a:t>
            </a:r>
          </a:p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aharai Benefit Fund Nidhi Limited">
            <a:extLst>
              <a:ext uri="{FF2B5EF4-FFF2-40B4-BE49-F238E27FC236}">
                <a16:creationId xmlns:a16="http://schemas.microsoft.com/office/drawing/2014/main" id="{A75C58DB-C5F4-9CD8-177C-BDC0BA772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192" y="372728"/>
            <a:ext cx="5317021" cy="448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90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EBDA-AB8D-A82A-F4E5-C37D8FE6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AC38C-835C-F8D8-4534-44904CB4B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Rajat </a:t>
            </a:r>
            <a:r>
              <a:rPr lang="en-US" dirty="0" err="1"/>
              <a:t>Dwivedi:JDBC</a:t>
            </a:r>
            <a:r>
              <a:rPr lang="en-US" dirty="0"/>
              <a:t> and OOPS implementation </a:t>
            </a:r>
          </a:p>
          <a:p>
            <a:r>
              <a:rPr lang="en-US" dirty="0"/>
              <a:t>Utkarsh Dhar </a:t>
            </a:r>
            <a:r>
              <a:rPr lang="en-US" dirty="0" err="1"/>
              <a:t>Dwivedi:Program</a:t>
            </a:r>
            <a:r>
              <a:rPr lang="en-US" dirty="0"/>
              <a:t> structure(</a:t>
            </a:r>
            <a:r>
              <a:rPr lang="en-US" dirty="0" err="1"/>
              <a:t>classes,methods</a:t>
            </a:r>
            <a:r>
              <a:rPr lang="en-US" dirty="0"/>
              <a:t> and interfaces)</a:t>
            </a:r>
          </a:p>
          <a:p>
            <a:r>
              <a:rPr lang="en-US" dirty="0"/>
              <a:t>Yash Keshari :Exception </a:t>
            </a:r>
            <a:r>
              <a:rPr lang="en-US" dirty="0" err="1"/>
              <a:t>handling,file</a:t>
            </a:r>
            <a:r>
              <a:rPr lang="en-US" dirty="0"/>
              <a:t> handling and OOPS 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6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lose-up of a blue and green corrugated pipe&#10;&#10;AI-generated content may be incorrect.">
            <a:extLst>
              <a:ext uri="{FF2B5EF4-FFF2-40B4-BE49-F238E27FC236}">
                <a16:creationId xmlns:a16="http://schemas.microsoft.com/office/drawing/2014/main" id="{CA4EFDF4-049E-4907-2387-DEFC6CF21A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8303" b="742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46CC37-3B88-8B96-BF4B-76E285B5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Objectives</a:t>
            </a: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A35FDE1-330A-825B-B6E1-91130F8EE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4018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575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DA784-A186-D6F2-CBE2-DB6DE62B8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Skeleton of Project: Classes, Methods,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EFD40-D5EF-3E82-B973-85D849058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Classes</a:t>
            </a:r>
            <a:endParaRPr lang="en-US" sz="1400" b="1" dirty="0">
              <a:effectLst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1. </a:t>
            </a:r>
            <a:r>
              <a:rPr lang="en-US" sz="1400" b="1" i="0" u="none" strike="noStrike" dirty="0" err="1">
                <a:effectLst/>
                <a:latin typeface="Arial" panose="020B0604020202020204" pitchFamily="34" charset="0"/>
              </a:rPr>
              <a:t>BankingSystem</a:t>
            </a:r>
            <a:endParaRPr lang="en-US" sz="1400" b="1" dirty="0">
              <a:effectLst/>
            </a:endParaRPr>
          </a:p>
          <a:p>
            <a:pPr rtl="0">
              <a:buNone/>
            </a:pP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Description: The main class that serves as the entry point for the application. It manages user interactions and orchestrates various system functionalities.</a:t>
            </a:r>
            <a:endParaRPr lang="en-US" sz="1400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main(String[] </a:t>
            </a:r>
            <a:r>
              <a:rPr lang="en-US" sz="1400" b="0" i="0" u="none" strike="noStrike" dirty="0" err="1">
                <a:effectLst/>
                <a:latin typeface="Roboto" panose="02000000000000000000" pitchFamily="2" charset="0"/>
              </a:rPr>
              <a:t>args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): Initializes the system, validates command-line arguments, and displays a menu for user interaction.</a:t>
            </a:r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400" b="1" i="0" u="none" strike="noStrike" dirty="0">
                <a:effectLst/>
                <a:latin typeface="Arial" panose="020B0604020202020204" pitchFamily="34" charset="0"/>
              </a:rPr>
              <a:t>2. Account</a:t>
            </a:r>
            <a:endParaRPr lang="en-US" sz="1400" b="1" dirty="0">
              <a:effectLst/>
            </a:endParaRPr>
          </a:p>
          <a:p>
            <a:pPr rtl="0">
              <a:buNone/>
            </a:pP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Description: Represents a bank account and provides methods to manage account-related operations.</a:t>
            </a:r>
            <a:endParaRPr lang="en-US" sz="1400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Attributes: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Courier New" panose="02070309020205020404" pitchFamily="49" charset="0"/>
              </a:rPr>
              <a:t>int </a:t>
            </a:r>
            <a:r>
              <a:rPr lang="en-US" sz="1400" b="0" i="0" u="none" strike="noStrike" dirty="0" err="1">
                <a:effectLst/>
                <a:latin typeface="Courier New" panose="02070309020205020404" pitchFamily="49" charset="0"/>
              </a:rPr>
              <a:t>accountNumber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: Unique identifier for the account.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Courier New" panose="02070309020205020404" pitchFamily="49" charset="0"/>
              </a:rPr>
              <a:t>String </a:t>
            </a:r>
            <a:r>
              <a:rPr lang="en-US" sz="1400" b="0" i="0" u="none" strike="noStrike" dirty="0" err="1">
                <a:effectLst/>
                <a:latin typeface="Courier New" panose="02070309020205020404" pitchFamily="49" charset="0"/>
              </a:rPr>
              <a:t>accountHolder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: Name of the account holder.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Courier New" panose="02070309020205020404" pitchFamily="49" charset="0"/>
              </a:rPr>
              <a:t>int age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, 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</a:rPr>
              <a:t>String nationality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, 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</a:rPr>
              <a:t>String occupation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, </a:t>
            </a:r>
            <a:r>
              <a:rPr lang="en-US" sz="1400" b="0" i="0" u="none" strike="noStrike" dirty="0">
                <a:effectLst/>
                <a:latin typeface="Courier New" panose="02070309020205020404" pitchFamily="49" charset="0"/>
              </a:rPr>
              <a:t>double salary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, etc.: Personal details of the account holder.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  <a:latin typeface="Courier New" panose="02070309020205020404" pitchFamily="49" charset="0"/>
              </a:rPr>
              <a:t>double balance</a:t>
            </a:r>
            <a:r>
              <a:rPr lang="en-US" sz="1400" b="0" i="0" u="none" strike="noStrike" dirty="0">
                <a:effectLst/>
                <a:latin typeface="Roboto" panose="02000000000000000000" pitchFamily="2" charset="0"/>
              </a:rPr>
              <a:t>: Current balance of the account.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28835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DEC50-C928-D2C3-0220-EDC049C51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218038"/>
            <a:ext cx="10515600" cy="4351338"/>
          </a:xfrm>
        </p:spPr>
        <p:txBody>
          <a:bodyPr/>
          <a:lstStyle/>
          <a:p>
            <a:pPr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</a:t>
            </a:r>
            <a:r>
              <a:rPr lang="en-US" sz="1200" b="0" i="0" u="none" strike="noStrike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i="0" u="none" strike="noStrike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Public account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8EADA-7D45-4BBB-5E71-5922CE09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7" y="1188720"/>
            <a:ext cx="7757160" cy="1204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14F5E-F62E-BDF1-33EC-8CC14186B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7" y="2393707"/>
            <a:ext cx="7757160" cy="45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1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D0955-78EB-C932-8483-5A5A0095B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rt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Bank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Manages multiple accounts and provides operations like creating accounts, depositing, withdrawing, and checking balances.</a:t>
            </a:r>
            <a:endParaRPr lang="en-US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br>
              <a:rPr lang="en-US" b="0" dirty="0">
                <a:effectLst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Bank(int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maxAccounts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double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least_balance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Constructor to initialize the bank with a maximum number of accounts and minimum balance requirements.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createAccount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(...): Creates a new account with user-provided details.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deposit(int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accountNumber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double... amounts): Deposits funds into an account.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withdraw(int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accountNumber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double amount): Withdraws funds from an account if valid.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checkBalance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(int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accountNumber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Displays the current balance of an account.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ValidAccNum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(int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accountNumber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Checks if an account number is valid.</a:t>
            </a:r>
          </a:p>
          <a:p>
            <a:endParaRPr lang="en-US" dirty="0"/>
          </a:p>
          <a:p>
            <a:endParaRPr lang="en-US" dirty="0"/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 Loan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Abstract class representing a loan. It provides methods to calculate monthly installments and check eligibility.</a:t>
            </a:r>
            <a:endParaRPr lang="en-US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checkEligibility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(Account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account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double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loanAmount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Determines if an account is eligible for a loan based on criteria like salary and balance.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calcMonthlyInstallments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(double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loanAmount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int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loanTerm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Calculates monthly installments based on loan amount and term.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4DB28-8523-D501-DF2B-25B6FFD16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97" y="2960309"/>
            <a:ext cx="5532303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54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0B463-A23E-26D1-E252-C24D86C5C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2" y="192766"/>
            <a:ext cx="11816442" cy="6501947"/>
          </a:xfrm>
        </p:spPr>
        <p:txBody>
          <a:bodyPr/>
          <a:lstStyle/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 </a:t>
            </a:r>
            <a:r>
              <a:rPr lang="en-US" sz="17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HomeLoan</a:t>
            </a: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(extends Loan)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Represents a home loan with specific eligibility criteria and interest rates.</a:t>
            </a:r>
            <a:endParaRPr lang="en-US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checkEligibility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(Account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account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double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loanAmount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Checks eligibility based on salary and balance requirements specific to home loans.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calcMonthlyInstallments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(double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loanAmount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int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loanTerm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Calculates monthly installments for a home loan using a fixed interest rate.</a:t>
            </a:r>
            <a:endParaRPr lang="en-US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6. </a:t>
            </a:r>
            <a:r>
              <a:rPr lang="en-US" sz="17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PersonalLoan</a:t>
            </a: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(extends Loan)</a:t>
            </a:r>
            <a:endParaRPr lang="en-US" sz="1050" b="1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Represents a personal loan with its own eligibility criteria and interest rates.</a:t>
            </a:r>
            <a:endParaRPr lang="en-US" sz="1050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Similar methods as in </a:t>
            </a:r>
            <a:r>
              <a:rPr lang="en-US" sz="1050" b="0" i="0" u="none" strike="noStrike" dirty="0" err="1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HomeLoan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but with different interest rates or criteria.</a:t>
            </a:r>
          </a:p>
          <a:p>
            <a:pPr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7. </a:t>
            </a:r>
            <a:r>
              <a:rPr lang="en-US" sz="17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JDBC_Database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Handles database connectivity using JDBC for storing and retrieving data related to accounts and transactions.</a:t>
            </a:r>
            <a:endParaRPr lang="en-US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loadDriver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(),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createConnection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(), etc.: Manage database connection setup.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createTable_accounts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(): Creates a table in the database for storing accounts.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insertData_accounts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(...), etc.: Inserts or retrieves data from the database.</a:t>
            </a:r>
          </a:p>
          <a:p>
            <a:pPr marL="457200" lvl="1" indent="0" rtl="0" fontAlgn="base">
              <a:spcAft>
                <a:spcPts val="2100"/>
              </a:spcAft>
              <a:buNone/>
            </a:pPr>
            <a:endParaRPr lang="en-US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457200" lvl="1" indent="0" rtl="0" fontAlgn="base">
              <a:spcAft>
                <a:spcPts val="2100"/>
              </a:spcAft>
              <a:buNone/>
            </a:pPr>
            <a:endParaRPr lang="en-US" sz="1200" dirty="0">
              <a:solidFill>
                <a:srgbClr val="000000"/>
              </a:solidFill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80031-92DD-7D68-E469-165F1063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2" y="3080125"/>
            <a:ext cx="7586441" cy="697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AB7A38-4467-FD1E-A054-77B91C68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89" y="5475406"/>
            <a:ext cx="6781623" cy="138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11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EA10-6ABD-8248-01FA-DBD715521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8. </a:t>
            </a:r>
            <a:r>
              <a:rPr lang="en-US" sz="17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LoanApplication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Handles file operations related to saving and retrieving loan application details.</a:t>
            </a:r>
            <a:endParaRPr lang="en-US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createFile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(String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fileName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): Creates a new file for storing loan application details.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writeFile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(String content): Writes content to a file.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readFile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(): Reads content from a file and displays it</a:t>
            </a:r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Interfaces</a:t>
            </a:r>
            <a:endParaRPr lang="en-US" sz="2000" b="1" dirty="0">
              <a:effectLst/>
            </a:endParaRPr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</a:t>
            </a:r>
            <a:r>
              <a:rPr lang="en-US" sz="17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AccountOperations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Defines operations related to accounts such as deposits and withdrawals.</a:t>
            </a:r>
            <a:endParaRPr lang="en-US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void deposit(double amount)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Adds funds to an account.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void withdraw(double amount)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Deducts funds from an account if sufficient balance exists.</a:t>
            </a:r>
          </a:p>
          <a:p>
            <a:pPr rt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LoanEligibility</a:t>
            </a:r>
            <a:endParaRPr lang="en-US" b="1" dirty="0">
              <a:effectLst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Description: Defines eligibility criteria for loans based on various factors like age, credit score, etc.</a:t>
            </a:r>
            <a:endParaRPr lang="en-US" b="0" dirty="0">
              <a:effectLst/>
            </a:endParaRPr>
          </a:p>
          <a:p>
            <a:pPr rtl="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Methods:</a:t>
            </a:r>
          </a:p>
          <a:p>
            <a:pPr marL="742950" lvl="1" indent="-285750" rtl="0" fontAlgn="base">
              <a:spcAft>
                <a:spcPts val="21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 err="1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boolean</a:t>
            </a:r>
            <a:r>
              <a:rPr lang="en-US" sz="1050" b="0" i="0" u="none" strike="noStrike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isEligibleForLoan</a:t>
            </a:r>
            <a:r>
              <a:rPr lang="en-US" sz="1050" b="0" i="0" u="none" strike="noStrike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(Account account)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Checks if an account is eligible for a loan based on predefined criteria.</a:t>
            </a: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This skeleton provides a modular design using OOP principles, ensuring scalability and maintainability of the Banking Management System.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sz="1200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14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blue and white water surface&#10;&#10;AI-generated content may be incorrect.">
            <a:extLst>
              <a:ext uri="{FF2B5EF4-FFF2-40B4-BE49-F238E27FC236}">
                <a16:creationId xmlns:a16="http://schemas.microsoft.com/office/drawing/2014/main" id="{1521AFA4-5865-6F2E-C47D-8282B536F09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8B3BAF-E0CB-0B68-5369-D5E76F80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OOP Principles Used: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BE665A-19B7-75F5-3192-288855664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8931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607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C7F2B-0CFD-CFE5-4091-86A214B7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Exception Handling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67795C-1A1A-1FFF-93DB-9A202F8E6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330012"/>
              </p:ext>
            </p:extLst>
          </p:nvPr>
        </p:nvGraphicFramePr>
        <p:xfrm>
          <a:off x="644056" y="2334873"/>
          <a:ext cx="10927830" cy="374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985">
                  <a:extLst>
                    <a:ext uri="{9D8B030D-6E8A-4147-A177-3AD203B41FA5}">
                      <a16:colId xmlns:a16="http://schemas.microsoft.com/office/drawing/2014/main" val="1968224784"/>
                    </a:ext>
                  </a:extLst>
                </a:gridCol>
                <a:gridCol w="1276081">
                  <a:extLst>
                    <a:ext uri="{9D8B030D-6E8A-4147-A177-3AD203B41FA5}">
                      <a16:colId xmlns:a16="http://schemas.microsoft.com/office/drawing/2014/main" val="673833103"/>
                    </a:ext>
                  </a:extLst>
                </a:gridCol>
                <a:gridCol w="3604217">
                  <a:extLst>
                    <a:ext uri="{9D8B030D-6E8A-4147-A177-3AD203B41FA5}">
                      <a16:colId xmlns:a16="http://schemas.microsoft.com/office/drawing/2014/main" val="2062172864"/>
                    </a:ext>
                  </a:extLst>
                </a:gridCol>
                <a:gridCol w="2560547">
                  <a:extLst>
                    <a:ext uri="{9D8B030D-6E8A-4147-A177-3AD203B41FA5}">
                      <a16:colId xmlns:a16="http://schemas.microsoft.com/office/drawing/2014/main" val="153788319"/>
                    </a:ext>
                  </a:extLst>
                </a:gridCol>
              </a:tblGrid>
              <a:tr h="318792">
                <a:tc>
                  <a:txBody>
                    <a:bodyPr/>
                    <a:lstStyle/>
                    <a:p>
                      <a:r>
                        <a:rPr lang="en-US" sz="1300" b="1"/>
                        <a:t>Exception Name</a:t>
                      </a:r>
                      <a:endParaRPr lang="en-US" sz="1300"/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Type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Purpose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Example Cause</a:t>
                      </a:r>
                    </a:p>
                  </a:txBody>
                  <a:tcPr marL="72453" marR="72453" marT="36226" marB="36226"/>
                </a:tc>
                <a:extLst>
                  <a:ext uri="{0D108BD9-81ED-4DB2-BD59-A6C34878D82A}">
                    <a16:rowId xmlns:a16="http://schemas.microsoft.com/office/drawing/2014/main" val="2501370546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InvalidInputException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Custom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Validates user inputs (name, age, etc.)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Age &lt; 18 or name with numbers</a:t>
                      </a:r>
                      <a:r>
                        <a:rPr lang="en-US" sz="1200">
                          <a:effectLst/>
                        </a:rPr>
                        <a:t> </a:t>
                      </a:r>
                      <a:endParaRPr lang="en-US" sz="1200"/>
                    </a:p>
                  </a:txBody>
                  <a:tcPr marL="72453" marR="72453" marT="36226" marB="36226" anchor="ctr"/>
                </a:tc>
                <a:extLst>
                  <a:ext uri="{0D108BD9-81ED-4DB2-BD59-A6C34878D82A}">
                    <a16:rowId xmlns:a16="http://schemas.microsoft.com/office/drawing/2014/main" val="1069901903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SQLException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Built-in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Handles database errors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Wrong DB URL or server down</a:t>
                      </a:r>
                    </a:p>
                  </a:txBody>
                  <a:tcPr marL="72453" marR="72453" marT="36226" marB="36226"/>
                </a:tc>
                <a:extLst>
                  <a:ext uri="{0D108BD9-81ED-4DB2-BD59-A6C34878D82A}">
                    <a16:rowId xmlns:a16="http://schemas.microsoft.com/office/drawing/2014/main" val="1408064270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NumberFormatException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Built-in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Thrown when parsing invalid numbers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Entering "12.5a" for initial balance</a:t>
                      </a:r>
                    </a:p>
                  </a:txBody>
                  <a:tcPr marL="72453" marR="72453" marT="36226" marB="36226" anchor="ctr"/>
                </a:tc>
                <a:extLst>
                  <a:ext uri="{0D108BD9-81ED-4DB2-BD59-A6C34878D82A}">
                    <a16:rowId xmlns:a16="http://schemas.microsoft.com/office/drawing/2014/main" val="1506655035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LoanEligibilityException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Custom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Thrown when loan criteria fail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Salary 15000, needed 20000</a:t>
                      </a:r>
                    </a:p>
                  </a:txBody>
                  <a:tcPr marL="72453" marR="72453" marT="36226" marB="36226" anchor="ctr"/>
                </a:tc>
                <a:extLst>
                  <a:ext uri="{0D108BD9-81ED-4DB2-BD59-A6C34878D82A}">
                    <a16:rowId xmlns:a16="http://schemas.microsoft.com/office/drawing/2014/main" val="20387162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AccountLimitExceededException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Custom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Thrown when account limit is exceeded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Creating 6th account with max 5</a:t>
                      </a:r>
                    </a:p>
                  </a:txBody>
                  <a:tcPr marL="72453" marR="72453" marT="36226" marB="36226"/>
                </a:tc>
                <a:extLst>
                  <a:ext uri="{0D108BD9-81ED-4DB2-BD59-A6C34878D82A}">
                    <a16:rowId xmlns:a16="http://schemas.microsoft.com/office/drawing/2014/main" val="1967793122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InvalidNameFormatException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Custom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Thrown for names with special chars/numbers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Entering "rajat.dwivedi"</a:t>
                      </a:r>
                    </a:p>
                  </a:txBody>
                  <a:tcPr marL="72453" marR="72453" marT="36226" marB="36226"/>
                </a:tc>
                <a:extLst>
                  <a:ext uri="{0D108BD9-81ED-4DB2-BD59-A6C34878D82A}">
                    <a16:rowId xmlns:a16="http://schemas.microsoft.com/office/drawing/2014/main" val="686228468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NegativeAmountException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Custom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Thrown for negative deposit/withdrawal amounts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Depositing or withdrawing -100</a:t>
                      </a:r>
                    </a:p>
                  </a:txBody>
                  <a:tcPr marL="72453" marR="72453" marT="36226" marB="36226" anchor="ctr"/>
                </a:tc>
                <a:extLst>
                  <a:ext uri="{0D108BD9-81ED-4DB2-BD59-A6C34878D82A}">
                    <a16:rowId xmlns:a16="http://schemas.microsoft.com/office/drawing/2014/main" val="2468406848"/>
                  </a:ext>
                </a:extLst>
              </a:tr>
              <a:tr h="306717">
                <a:tc>
                  <a:txBody>
                    <a:bodyPr/>
                    <a:lstStyle/>
                    <a:p>
                      <a:r>
                        <a:rPr lang="en-US" sz="1300"/>
                        <a:t>LoanTermInvalidException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Custom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Thrown for invalid loan terms (e.g., &lt;= 0)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Loan term of 0 months</a:t>
                      </a:r>
                    </a:p>
                  </a:txBody>
                  <a:tcPr marL="72453" marR="72453" marT="36226" marB="36226" anchor="ctr"/>
                </a:tc>
                <a:extLst>
                  <a:ext uri="{0D108BD9-81ED-4DB2-BD59-A6C34878D82A}">
                    <a16:rowId xmlns:a16="http://schemas.microsoft.com/office/drawing/2014/main" val="1691530395"/>
                  </a:ext>
                </a:extLst>
              </a:tr>
              <a:tr h="463697">
                <a:tc>
                  <a:txBody>
                    <a:bodyPr/>
                    <a:lstStyle/>
                    <a:p>
                      <a:r>
                        <a:rPr lang="en-US" sz="1300"/>
                        <a:t>SQLDataException</a:t>
                      </a:r>
                    </a:p>
                  </a:txBody>
                  <a:tcPr marL="72453" marR="72453" marT="36226" marB="36226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Built-in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Thrown when incorrect data type is used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Storing a string in an integer column</a:t>
                      </a:r>
                    </a:p>
                  </a:txBody>
                  <a:tcPr marL="72453" marR="72453" marT="36226" marB="36226" anchor="ctr"/>
                </a:tc>
                <a:extLst>
                  <a:ext uri="{0D108BD9-81ED-4DB2-BD59-A6C34878D82A}">
                    <a16:rowId xmlns:a16="http://schemas.microsoft.com/office/drawing/2014/main" val="2450337415"/>
                  </a:ext>
                </a:extLst>
              </a:tr>
              <a:tr h="511999">
                <a:tc>
                  <a:txBody>
                    <a:bodyPr/>
                    <a:lstStyle/>
                    <a:p>
                      <a:r>
                        <a:rPr lang="en-US" sz="1300" b="1"/>
                        <a:t>SQLIntegrityConstraintViolationException</a:t>
                      </a:r>
                      <a:endParaRPr lang="en-US" sz="1300"/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Built-in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Thrown when a constraint is violated</a:t>
                      </a:r>
                    </a:p>
                  </a:txBody>
                  <a:tcPr marL="72453" marR="72453" marT="36226" marB="3622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Trying to insert duplicate primary key	</a:t>
                      </a:r>
                    </a:p>
                  </a:txBody>
                  <a:tcPr marL="72453" marR="72453" marT="36226" marB="36226"/>
                </a:tc>
                <a:extLst>
                  <a:ext uri="{0D108BD9-81ED-4DB2-BD59-A6C34878D82A}">
                    <a16:rowId xmlns:a16="http://schemas.microsoft.com/office/drawing/2014/main" val="2682847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543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E4C900-1237-5B0B-AD73-6AE061625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Implementation of Java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528FB-98DA-1AD4-A1B3-BB7705CEA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079" y="-2"/>
            <a:ext cx="6624063" cy="685799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/>
              <a:t>Database:</a:t>
            </a:r>
            <a:r>
              <a:rPr lang="en-US" sz="13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b="1" dirty="0" err="1"/>
              <a:t>JDBC_Database</a:t>
            </a:r>
            <a:r>
              <a:rPr lang="en-US" sz="1300" dirty="0"/>
              <a:t>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300" dirty="0"/>
              <a:t>Connects to MySQL (</a:t>
            </a:r>
            <a:r>
              <a:rPr lang="en-US" sz="1300" dirty="0" err="1"/>
              <a:t>jdbc:mysql</a:t>
            </a:r>
            <a:r>
              <a:rPr lang="en-US" sz="1300" dirty="0"/>
              <a:t>://localhost:3306/</a:t>
            </a:r>
            <a:r>
              <a:rPr lang="en-US" sz="1300" dirty="0" err="1"/>
              <a:t>BankingSystem</a:t>
            </a:r>
            <a:r>
              <a:rPr lang="en-US" sz="1300" dirty="0"/>
              <a:t>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300" dirty="0"/>
              <a:t>Methods: </a:t>
            </a:r>
            <a:r>
              <a:rPr lang="en-US" sz="1300" dirty="0" err="1"/>
              <a:t>createTable_accounts</a:t>
            </a:r>
            <a:r>
              <a:rPr lang="en-US" sz="1300" dirty="0"/>
              <a:t>(), </a:t>
            </a:r>
            <a:r>
              <a:rPr lang="en-US" sz="1300" dirty="0" err="1"/>
              <a:t>insertData_accounts</a:t>
            </a:r>
            <a:r>
              <a:rPr lang="en-US" sz="1300" dirty="0"/>
              <a:t>(), </a:t>
            </a:r>
            <a:r>
              <a:rPr lang="en-US" sz="1300" dirty="0" err="1"/>
              <a:t>extractData_AllUsers</a:t>
            </a:r>
            <a:r>
              <a:rPr lang="en-US" sz="1300" dirty="0"/>
              <a:t>().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300" dirty="0"/>
              <a:t>Stores account details in Accounts table with auto-incremented </a:t>
            </a:r>
            <a:r>
              <a:rPr lang="en-US" sz="1300" dirty="0" err="1"/>
              <a:t>accountNumber</a:t>
            </a:r>
            <a:r>
              <a:rPr lang="en-US" sz="13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b="1" dirty="0"/>
              <a:t>Threads:</a:t>
            </a:r>
            <a:r>
              <a:rPr lang="en-US" sz="13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Not implemented in this phase.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Future scope: Could use threads for concurrent deposit/withdrawal operations.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79911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BCBB-1597-F246-C08F-E9F71CA0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D08B5-FE03-0E1F-5721-F85D27D9E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9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1059</Words>
  <Application>Microsoft Office PowerPoint</Application>
  <PresentationFormat>Widescreen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Roboto</vt:lpstr>
      <vt:lpstr>Office Theme</vt:lpstr>
      <vt:lpstr>PIJ Project Phase 1   Bank Management System</vt:lpstr>
      <vt:lpstr>Work Distribution </vt:lpstr>
      <vt:lpstr>Objectives</vt:lpstr>
      <vt:lpstr>Skeleton of Project: Classes, Methods, Interfaces</vt:lpstr>
      <vt:lpstr>PowerPoint Presentation</vt:lpstr>
      <vt:lpstr>PowerPoint Presentation</vt:lpstr>
      <vt:lpstr>PowerPoint Presentation</vt:lpstr>
      <vt:lpstr>PowerPoint Presentation</vt:lpstr>
      <vt:lpstr>OOP Principles Used:</vt:lpstr>
      <vt:lpstr>Exception Handling</vt:lpstr>
      <vt:lpstr>Implementation of Java Components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rajatdwivedi9451@outlook.com</dc:creator>
  <cp:lastModifiedBy>rajatdwivedi9451@outlook.com</cp:lastModifiedBy>
  <cp:revision>7</cp:revision>
  <dcterms:created xsi:type="dcterms:W3CDTF">2025-04-01T18:11:43Z</dcterms:created>
  <dcterms:modified xsi:type="dcterms:W3CDTF">2025-04-02T18:54:32Z</dcterms:modified>
</cp:coreProperties>
</file>